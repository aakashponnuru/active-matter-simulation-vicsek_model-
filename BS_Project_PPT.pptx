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Arial MT Pro Bold" charset="1" panose="020B0802020202020204"/>
      <p:regular r:id="rId33"/>
    </p:embeddedFont>
    <p:embeddedFont>
      <p:font typeface="Arial MT Pro" charset="1" panose="020B0502020202020204"/>
      <p:regular r:id="rId34"/>
    </p:embeddedFont>
    <p:embeddedFont>
      <p:font typeface="Arial MT Pro Italics" charset="1" panose="020B050202020209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4.png" Type="http://schemas.openxmlformats.org/officeDocument/2006/relationships/image"/><Relationship Id="rId6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46698" y="3927824"/>
            <a:ext cx="2594603" cy="2863010"/>
          </a:xfrm>
          <a:custGeom>
            <a:avLst/>
            <a:gdLst/>
            <a:ahLst/>
            <a:cxnLst/>
            <a:rect r="r" b="b" t="t" l="l"/>
            <a:pathLst>
              <a:path h="2863010" w="2594603">
                <a:moveTo>
                  <a:pt x="0" y="0"/>
                </a:moveTo>
                <a:lnTo>
                  <a:pt x="2594604" y="0"/>
                </a:lnTo>
                <a:lnTo>
                  <a:pt x="2594604" y="2863010"/>
                </a:lnTo>
                <a:lnTo>
                  <a:pt x="0" y="28630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84161" y="1387316"/>
            <a:ext cx="13119678" cy="2388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6"/>
              </a:lnSpc>
            </a:pPr>
            <a:r>
              <a:rPr lang="en-US" b="true" sz="4200" spc="7">
                <a:solidFill>
                  <a:srgbClr val="04077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BS Project</a:t>
            </a:r>
          </a:p>
          <a:p>
            <a:pPr algn="ctr">
              <a:lnSpc>
                <a:spcPts val="4536"/>
              </a:lnSpc>
            </a:pP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On</a:t>
            </a:r>
          </a:p>
          <a:p>
            <a:pPr algn="ctr">
              <a:lnSpc>
                <a:spcPts val="4536"/>
              </a:lnSpc>
            </a:pP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Study of Molecular Dynamics &amp; 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No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n-Equi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l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ibrium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 Phase Transition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s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 in 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Ac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t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iv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e 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Matt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er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 us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in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g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 t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he V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ic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sek Mod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e</a:t>
            </a:r>
            <a:r>
              <a:rPr lang="en-US" sz="4200" spc="7">
                <a:solidFill>
                  <a:srgbClr val="040776"/>
                </a:solidFill>
                <a:latin typeface="Arial MT Pro"/>
                <a:ea typeface="Arial MT Pro"/>
                <a:cs typeface="Arial MT Pro"/>
                <a:sym typeface="Arial MT Pro"/>
              </a:rPr>
              <a:t>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45667" y="6886084"/>
            <a:ext cx="279666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04077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Ponnuru Aakash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11549" y="7295659"/>
            <a:ext cx="346490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3764B2"/>
                </a:solidFill>
                <a:latin typeface="Arial MT Pro"/>
                <a:ea typeface="Arial MT Pro"/>
                <a:cs typeface="Arial MT Pro"/>
                <a:sym typeface="Arial MT Pro"/>
              </a:rPr>
              <a:t>Supervisor:Dr.Sunita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36554" y="7962409"/>
            <a:ext cx="6214891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3764B2"/>
                </a:solidFill>
                <a:latin typeface="Arial MT Pro"/>
                <a:ea typeface="Arial MT Pro"/>
                <a:cs typeface="Arial MT Pro"/>
                <a:sym typeface="Arial MT Pro"/>
              </a:rPr>
              <a:t>Department of Physics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3764B2"/>
                </a:solidFill>
                <a:latin typeface="Arial MT Pro"/>
                <a:ea typeface="Arial MT Pro"/>
                <a:cs typeface="Arial MT Pro"/>
                <a:sym typeface="Arial MT Pro"/>
              </a:rPr>
              <a:t>Indian Institute of Technology Jodhpur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3764B2"/>
                </a:solidFill>
                <a:latin typeface="Arial MT Pro"/>
                <a:ea typeface="Arial MT Pro"/>
                <a:cs typeface="Arial MT Pro"/>
                <a:sym typeface="Arial MT Pro"/>
              </a:rPr>
              <a:t>Karwar, Jodhpur 342030, Rajasthan, India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7"/>
                </a:lnSpc>
              </a:pPr>
              <a:r>
                <a:rPr lang="en-US" sz="5099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OUTLINE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916813" y="2507457"/>
            <a:ext cx="8938260" cy="6398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Introduction to Molecular Dynamics.</a:t>
            </a:r>
          </a:p>
          <a:p>
            <a:pPr algn="l">
              <a:lnSpc>
                <a:spcPts val="3888"/>
              </a:lnSpc>
            </a:pPr>
          </a:p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Introduction to Active matter.</a:t>
            </a:r>
          </a:p>
          <a:p>
            <a:pPr algn="l">
              <a:lnSpc>
                <a:spcPts val="3888"/>
              </a:lnSpc>
            </a:pPr>
          </a:p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Vicsek Model.</a:t>
            </a:r>
          </a:p>
          <a:p>
            <a:pPr algn="l">
              <a:lnSpc>
                <a:spcPts val="3888"/>
              </a:lnSpc>
            </a:pPr>
          </a:p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Molecular Dynamics in Vicsek Model.</a:t>
            </a:r>
          </a:p>
          <a:p>
            <a:pPr algn="l">
              <a:lnSpc>
                <a:spcPts val="3888"/>
              </a:lnSpc>
            </a:pPr>
          </a:p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Implementation.</a:t>
            </a:r>
          </a:p>
          <a:p>
            <a:pPr algn="l">
              <a:lnSpc>
                <a:spcPts val="3888"/>
              </a:lnSpc>
            </a:pPr>
          </a:p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Results.</a:t>
            </a:r>
          </a:p>
          <a:p>
            <a:pPr algn="l">
              <a:lnSpc>
                <a:spcPts val="3888"/>
              </a:lnSpc>
            </a:pPr>
          </a:p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Conclusions and Future Works.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7"/>
                </a:lnSpc>
              </a:pPr>
              <a:r>
                <a:rPr lang="en-US" sz="5099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Molecular dynamics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84986" y="5143500"/>
            <a:ext cx="3714322" cy="842449"/>
            <a:chOff x="0" y="0"/>
            <a:chExt cx="978258" cy="221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8258" cy="221880"/>
            </a:xfrm>
            <a:custGeom>
              <a:avLst/>
              <a:gdLst/>
              <a:ahLst/>
              <a:cxnLst/>
              <a:rect r="r" b="b" t="t" l="l"/>
              <a:pathLst>
                <a:path h="221880" w="978258">
                  <a:moveTo>
                    <a:pt x="106301" y="0"/>
                  </a:moveTo>
                  <a:lnTo>
                    <a:pt x="871956" y="0"/>
                  </a:lnTo>
                  <a:cubicBezTo>
                    <a:pt x="930665" y="0"/>
                    <a:pt x="978258" y="47593"/>
                    <a:pt x="978258" y="106301"/>
                  </a:cubicBezTo>
                  <a:lnTo>
                    <a:pt x="978258" y="115578"/>
                  </a:lnTo>
                  <a:cubicBezTo>
                    <a:pt x="978258" y="174287"/>
                    <a:pt x="930665" y="221880"/>
                    <a:pt x="871956" y="221880"/>
                  </a:cubicBezTo>
                  <a:lnTo>
                    <a:pt x="106301" y="221880"/>
                  </a:lnTo>
                  <a:cubicBezTo>
                    <a:pt x="47593" y="221880"/>
                    <a:pt x="0" y="174287"/>
                    <a:pt x="0" y="115578"/>
                  </a:cubicBezTo>
                  <a:lnTo>
                    <a:pt x="0" y="106301"/>
                  </a:lnTo>
                  <a:cubicBezTo>
                    <a:pt x="0" y="47593"/>
                    <a:pt x="47593" y="0"/>
                    <a:pt x="106301" y="0"/>
                  </a:cubicBezTo>
                  <a:close/>
                </a:path>
              </a:pathLst>
            </a:custGeom>
            <a:solidFill>
              <a:srgbClr val="D4FFD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8258" cy="259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28296" y="2658374"/>
            <a:ext cx="15773400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 c</a:t>
            </a:r>
            <a:r>
              <a:rPr lang="en-US" sz="27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omputational method to study classical many-body systems using Newton’s laws, valid when quantum effects are negligible.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MD simulations mirror the methodology of physical lab experiments through a strict procedural pipeline: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64450" y="5334900"/>
            <a:ext cx="3155394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799" spc="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Sample Preparation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14738" y="5143500"/>
            <a:ext cx="2942506" cy="842449"/>
            <a:chOff x="0" y="0"/>
            <a:chExt cx="774981" cy="221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4981" cy="221880"/>
            </a:xfrm>
            <a:custGeom>
              <a:avLst/>
              <a:gdLst/>
              <a:ahLst/>
              <a:cxnLst/>
              <a:rect r="r" b="b" t="t" l="l"/>
              <a:pathLst>
                <a:path h="221880" w="774981">
                  <a:moveTo>
                    <a:pt x="110940" y="0"/>
                  </a:moveTo>
                  <a:lnTo>
                    <a:pt x="664041" y="0"/>
                  </a:lnTo>
                  <a:cubicBezTo>
                    <a:pt x="725312" y="0"/>
                    <a:pt x="774981" y="49669"/>
                    <a:pt x="774981" y="110940"/>
                  </a:cubicBezTo>
                  <a:lnTo>
                    <a:pt x="774981" y="110940"/>
                  </a:lnTo>
                  <a:cubicBezTo>
                    <a:pt x="774981" y="140363"/>
                    <a:pt x="763293" y="168581"/>
                    <a:pt x="742488" y="189386"/>
                  </a:cubicBezTo>
                  <a:cubicBezTo>
                    <a:pt x="721682" y="210191"/>
                    <a:pt x="693464" y="221880"/>
                    <a:pt x="664041" y="221880"/>
                  </a:cubicBezTo>
                  <a:lnTo>
                    <a:pt x="110940" y="221880"/>
                  </a:lnTo>
                  <a:cubicBezTo>
                    <a:pt x="49669" y="221880"/>
                    <a:pt x="0" y="172210"/>
                    <a:pt x="0" y="110940"/>
                  </a:cubicBezTo>
                  <a:lnTo>
                    <a:pt x="0" y="110940"/>
                  </a:lnTo>
                  <a:cubicBezTo>
                    <a:pt x="0" y="49669"/>
                    <a:pt x="49669" y="0"/>
                    <a:pt x="110940" y="0"/>
                  </a:cubicBezTo>
                  <a:close/>
                </a:path>
              </a:pathLst>
            </a:custGeom>
            <a:solidFill>
              <a:srgbClr val="D4FFD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4981" cy="259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306583" y="5306325"/>
            <a:ext cx="195881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Equilibration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208276" y="5143500"/>
            <a:ext cx="3139948" cy="842449"/>
            <a:chOff x="0" y="0"/>
            <a:chExt cx="826982" cy="221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6982" cy="221880"/>
            </a:xfrm>
            <a:custGeom>
              <a:avLst/>
              <a:gdLst/>
              <a:ahLst/>
              <a:cxnLst/>
              <a:rect r="r" b="b" t="t" l="l"/>
              <a:pathLst>
                <a:path h="221880" w="826982">
                  <a:moveTo>
                    <a:pt x="110940" y="0"/>
                  </a:moveTo>
                  <a:lnTo>
                    <a:pt x="716042" y="0"/>
                  </a:lnTo>
                  <a:cubicBezTo>
                    <a:pt x="777313" y="0"/>
                    <a:pt x="826982" y="49669"/>
                    <a:pt x="826982" y="110940"/>
                  </a:cubicBezTo>
                  <a:lnTo>
                    <a:pt x="826982" y="110940"/>
                  </a:lnTo>
                  <a:cubicBezTo>
                    <a:pt x="826982" y="140363"/>
                    <a:pt x="815294" y="168581"/>
                    <a:pt x="794489" y="189386"/>
                  </a:cubicBezTo>
                  <a:cubicBezTo>
                    <a:pt x="773683" y="210191"/>
                    <a:pt x="745465" y="221880"/>
                    <a:pt x="716042" y="221880"/>
                  </a:cubicBezTo>
                  <a:lnTo>
                    <a:pt x="110940" y="221880"/>
                  </a:lnTo>
                  <a:cubicBezTo>
                    <a:pt x="49669" y="221880"/>
                    <a:pt x="0" y="172210"/>
                    <a:pt x="0" y="110940"/>
                  </a:cubicBezTo>
                  <a:lnTo>
                    <a:pt x="0" y="110940"/>
                  </a:lnTo>
                  <a:cubicBezTo>
                    <a:pt x="0" y="49669"/>
                    <a:pt x="49669" y="0"/>
                    <a:pt x="110940" y="0"/>
                  </a:cubicBezTo>
                  <a:close/>
                </a:path>
              </a:pathLst>
            </a:custGeom>
            <a:solidFill>
              <a:srgbClr val="D4FFD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26982" cy="259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691507" y="5329711"/>
            <a:ext cx="217348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Measurement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54804" y="6002324"/>
            <a:ext cx="4646891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Po</a:t>
            </a:r>
            <a:r>
              <a:rPr lang="en-US" sz="27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st-equilibration measurement of observables.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74902" y="6002324"/>
            <a:ext cx="233449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N-body system initialization.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39668" y="6002324"/>
            <a:ext cx="3092647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Iterative integration to equilibrium</a:t>
            </a:r>
          </a:p>
        </p:txBody>
      </p:sp>
      <p:sp>
        <p:nvSpPr>
          <p:cNvPr name="AutoShape 21" id="21"/>
          <p:cNvSpPr/>
          <p:nvPr/>
        </p:nvSpPr>
        <p:spPr>
          <a:xfrm>
            <a:off x="5699308" y="5564724"/>
            <a:ext cx="204036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>
            <a:off x="10699215" y="5549212"/>
            <a:ext cx="2489090" cy="155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8155" y="2609850"/>
            <a:ext cx="11951690" cy="659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5" indent="-388618" lvl="1">
              <a:lnSpc>
                <a:spcPts val="431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Define system parameters.</a:t>
            </a:r>
          </a:p>
          <a:p>
            <a:pPr algn="l">
              <a:lnSpc>
                <a:spcPts val="4319"/>
              </a:lnSpc>
            </a:pPr>
          </a:p>
          <a:p>
            <a:pPr algn="l" marL="777235" indent="-388618" lvl="1">
              <a:lnSpc>
                <a:spcPts val="431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Initialize random particle positions and velocities.</a:t>
            </a:r>
          </a:p>
          <a:p>
            <a:pPr algn="l">
              <a:lnSpc>
                <a:spcPts val="4319"/>
              </a:lnSpc>
            </a:pPr>
          </a:p>
          <a:p>
            <a:pPr algn="l" marL="777235" indent="-388618" lvl="1">
              <a:lnSpc>
                <a:spcPts val="431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Compute initial forces.</a:t>
            </a:r>
          </a:p>
          <a:p>
            <a:pPr algn="l">
              <a:lnSpc>
                <a:spcPts val="4319"/>
              </a:lnSpc>
            </a:pPr>
          </a:p>
          <a:p>
            <a:pPr algn="l" marL="777235" indent="-388618" lvl="1">
              <a:lnSpc>
                <a:spcPts val="431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For each time step:apply periodic boundary conditions, compute forces,update positions &amp; velocities,</a:t>
            </a:r>
          </a:p>
          <a:p>
            <a:pPr algn="l">
              <a:lnSpc>
                <a:spcPts val="4319"/>
              </a:lnSpc>
            </a:pPr>
          </a:p>
          <a:p>
            <a:pPr algn="l" marL="777235" indent="-388618" lvl="1">
              <a:lnSpc>
                <a:spcPts val="431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sample properties (Radial Distribution Function)</a:t>
            </a:r>
          </a:p>
          <a:p>
            <a:pPr algn="l">
              <a:lnSpc>
                <a:spcPts val="4319"/>
              </a:lnSpc>
            </a:pPr>
          </a:p>
          <a:p>
            <a:pPr algn="l" marL="777235" indent="-388618" lvl="1">
              <a:lnSpc>
                <a:spcPts val="431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Analyze results.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Imp</a:t>
              </a: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lementaion of MD Simulation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Syst</a:t>
              </a: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em Parameters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38183" y="2895944"/>
            <a:ext cx="5778481" cy="2745065"/>
            <a:chOff x="0" y="0"/>
            <a:chExt cx="1521905" cy="7229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1905" cy="722980"/>
            </a:xfrm>
            <a:custGeom>
              <a:avLst/>
              <a:gdLst/>
              <a:ahLst/>
              <a:cxnLst/>
              <a:rect r="r" b="b" t="t" l="l"/>
              <a:pathLst>
                <a:path h="722980" w="1521905">
                  <a:moveTo>
                    <a:pt x="68329" y="0"/>
                  </a:moveTo>
                  <a:lnTo>
                    <a:pt x="1453576" y="0"/>
                  </a:lnTo>
                  <a:cubicBezTo>
                    <a:pt x="1491313" y="0"/>
                    <a:pt x="1521905" y="30592"/>
                    <a:pt x="1521905" y="68329"/>
                  </a:cubicBezTo>
                  <a:lnTo>
                    <a:pt x="1521905" y="654651"/>
                  </a:lnTo>
                  <a:cubicBezTo>
                    <a:pt x="1521905" y="692388"/>
                    <a:pt x="1491313" y="722980"/>
                    <a:pt x="1453576" y="722980"/>
                  </a:cubicBezTo>
                  <a:lnTo>
                    <a:pt x="68329" y="722980"/>
                  </a:lnTo>
                  <a:cubicBezTo>
                    <a:pt x="30592" y="722980"/>
                    <a:pt x="0" y="692388"/>
                    <a:pt x="0" y="654651"/>
                  </a:cubicBezTo>
                  <a:lnTo>
                    <a:pt x="0" y="68329"/>
                  </a:lnTo>
                  <a:cubicBezTo>
                    <a:pt x="0" y="30592"/>
                    <a:pt x="30592" y="0"/>
                    <a:pt x="68329" y="0"/>
                  </a:cubicBezTo>
                  <a:close/>
                </a:path>
              </a:pathLst>
            </a:custGeom>
            <a:solidFill>
              <a:srgbClr val="D4FFD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21905" cy="761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3160898"/>
            <a:ext cx="8394191" cy="215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3"/>
              </a:lnSpc>
              <a:spcBef>
                <a:spcPct val="0"/>
              </a:spcBef>
            </a:pPr>
            <a:r>
              <a:rPr lang="en-US" sz="276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Global Parameters:</a:t>
            </a:r>
          </a:p>
          <a:p>
            <a:pPr algn="ctr">
              <a:lnSpc>
                <a:spcPts val="3323"/>
              </a:lnSpc>
              <a:spcBef>
                <a:spcPct val="0"/>
              </a:spcBef>
            </a:pPr>
            <a:r>
              <a:rPr lang="en-US" sz="276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Box Size (L): 24.0</a:t>
            </a:r>
          </a:p>
          <a:p>
            <a:pPr algn="ctr">
              <a:lnSpc>
                <a:spcPts val="3323"/>
              </a:lnSpc>
              <a:spcBef>
                <a:spcPct val="0"/>
              </a:spcBef>
            </a:pPr>
            <a:r>
              <a:rPr lang="en-US" sz="276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Number Density (ρ): 0.8</a:t>
            </a:r>
          </a:p>
          <a:p>
            <a:pPr algn="ctr">
              <a:lnSpc>
                <a:spcPts val="3323"/>
              </a:lnSpc>
              <a:spcBef>
                <a:spcPct val="0"/>
              </a:spcBef>
            </a:pPr>
            <a:r>
              <a:rPr lang="en-US" sz="276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Number of Particles (N): 11,059</a:t>
            </a:r>
          </a:p>
          <a:p>
            <a:pPr algn="ctr">
              <a:lnSpc>
                <a:spcPts val="3323"/>
              </a:lnSpc>
              <a:spcBef>
                <a:spcPct val="0"/>
              </a:spcBef>
            </a:pPr>
            <a:r>
              <a:rPr lang="en-US" sz="276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(Derived dynamically via N=ρ(L^3)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505991" y="2895944"/>
            <a:ext cx="5002305" cy="2745065"/>
            <a:chOff x="0" y="0"/>
            <a:chExt cx="1317480" cy="7229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7480" cy="722980"/>
            </a:xfrm>
            <a:custGeom>
              <a:avLst/>
              <a:gdLst/>
              <a:ahLst/>
              <a:cxnLst/>
              <a:rect r="r" b="b" t="t" l="l"/>
              <a:pathLst>
                <a:path h="722980" w="1317480">
                  <a:moveTo>
                    <a:pt x="78931" y="0"/>
                  </a:moveTo>
                  <a:lnTo>
                    <a:pt x="1238548" y="0"/>
                  </a:lnTo>
                  <a:cubicBezTo>
                    <a:pt x="1259482" y="0"/>
                    <a:pt x="1279559" y="8316"/>
                    <a:pt x="1294361" y="23118"/>
                  </a:cubicBezTo>
                  <a:cubicBezTo>
                    <a:pt x="1309164" y="37921"/>
                    <a:pt x="1317480" y="57997"/>
                    <a:pt x="1317480" y="78931"/>
                  </a:cubicBezTo>
                  <a:lnTo>
                    <a:pt x="1317480" y="644049"/>
                  </a:lnTo>
                  <a:cubicBezTo>
                    <a:pt x="1317480" y="664983"/>
                    <a:pt x="1309164" y="685059"/>
                    <a:pt x="1294361" y="699862"/>
                  </a:cubicBezTo>
                  <a:cubicBezTo>
                    <a:pt x="1279559" y="714664"/>
                    <a:pt x="1259482" y="722980"/>
                    <a:pt x="1238548" y="722980"/>
                  </a:cubicBezTo>
                  <a:lnTo>
                    <a:pt x="78931" y="722980"/>
                  </a:lnTo>
                  <a:cubicBezTo>
                    <a:pt x="57997" y="722980"/>
                    <a:pt x="37921" y="714664"/>
                    <a:pt x="23118" y="699862"/>
                  </a:cubicBezTo>
                  <a:cubicBezTo>
                    <a:pt x="8316" y="685059"/>
                    <a:pt x="0" y="664983"/>
                    <a:pt x="0" y="644049"/>
                  </a:cubicBezTo>
                  <a:lnTo>
                    <a:pt x="0" y="78931"/>
                  </a:lnTo>
                  <a:cubicBezTo>
                    <a:pt x="0" y="57997"/>
                    <a:pt x="8316" y="37921"/>
                    <a:pt x="23118" y="23118"/>
                  </a:cubicBezTo>
                  <a:cubicBezTo>
                    <a:pt x="37921" y="8316"/>
                    <a:pt x="57997" y="0"/>
                    <a:pt x="78931" y="0"/>
                  </a:cubicBezTo>
                  <a:close/>
                </a:path>
              </a:pathLst>
            </a:custGeom>
            <a:solidFill>
              <a:srgbClr val="D4FF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17480" cy="761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099882" y="3392176"/>
            <a:ext cx="3814524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Simulation  Parameters:</a:t>
            </a:r>
          </a:p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Total Time Steps: 3000</a:t>
            </a:r>
          </a:p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Equilibration Steps: 1000</a:t>
            </a:r>
          </a:p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Time Step (Δt): 0.005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188118" y="6326809"/>
            <a:ext cx="3911764" cy="1183484"/>
            <a:chOff x="0" y="0"/>
            <a:chExt cx="1030259" cy="3116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0259" cy="311699"/>
            </a:xfrm>
            <a:custGeom>
              <a:avLst/>
              <a:gdLst/>
              <a:ahLst/>
              <a:cxnLst/>
              <a:rect r="r" b="b" t="t" l="l"/>
              <a:pathLst>
                <a:path h="311699" w="1030259">
                  <a:moveTo>
                    <a:pt x="100936" y="0"/>
                  </a:moveTo>
                  <a:lnTo>
                    <a:pt x="929323" y="0"/>
                  </a:lnTo>
                  <a:cubicBezTo>
                    <a:pt x="956093" y="0"/>
                    <a:pt x="981766" y="10634"/>
                    <a:pt x="1000695" y="29563"/>
                  </a:cubicBezTo>
                  <a:cubicBezTo>
                    <a:pt x="1019624" y="48493"/>
                    <a:pt x="1030259" y="74166"/>
                    <a:pt x="1030259" y="100936"/>
                  </a:cubicBezTo>
                  <a:lnTo>
                    <a:pt x="1030259" y="210763"/>
                  </a:lnTo>
                  <a:cubicBezTo>
                    <a:pt x="1030259" y="237533"/>
                    <a:pt x="1019624" y="263207"/>
                    <a:pt x="1000695" y="282136"/>
                  </a:cubicBezTo>
                  <a:cubicBezTo>
                    <a:pt x="981766" y="301065"/>
                    <a:pt x="956093" y="311699"/>
                    <a:pt x="929323" y="311699"/>
                  </a:cubicBezTo>
                  <a:lnTo>
                    <a:pt x="100936" y="311699"/>
                  </a:lnTo>
                  <a:cubicBezTo>
                    <a:pt x="74166" y="311699"/>
                    <a:pt x="48493" y="301065"/>
                    <a:pt x="29563" y="282136"/>
                  </a:cubicBezTo>
                  <a:cubicBezTo>
                    <a:pt x="10634" y="263207"/>
                    <a:pt x="0" y="237533"/>
                    <a:pt x="0" y="210763"/>
                  </a:cubicBezTo>
                  <a:lnTo>
                    <a:pt x="0" y="100936"/>
                  </a:lnTo>
                  <a:cubicBezTo>
                    <a:pt x="0" y="74166"/>
                    <a:pt x="10634" y="48493"/>
                    <a:pt x="29563" y="29563"/>
                  </a:cubicBezTo>
                  <a:cubicBezTo>
                    <a:pt x="48493" y="10634"/>
                    <a:pt x="74166" y="0"/>
                    <a:pt x="100936" y="0"/>
                  </a:cubicBezTo>
                  <a:close/>
                </a:path>
              </a:pathLst>
            </a:custGeom>
            <a:solidFill>
              <a:srgbClr val="D4FFD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30259" cy="349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369612" y="6469775"/>
            <a:ext cx="354877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Interaction Parameters:</a:t>
            </a:r>
          </a:p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Cut-off Radius (rc): 2.5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57675"/>
            <a:ext cx="6891517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Lattice Setup:</a:t>
            </a:r>
            <a:r>
              <a:rPr lang="en-US" sz="27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Particles are placed iteratively on a 3D grid, ensuring a stable, overlap-free initial geometry that safely "melts" during equilibration.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41761" y="4257675"/>
            <a:ext cx="7417539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Momentum Correction:</a:t>
            </a:r>
            <a:r>
              <a:rPr lang="en-US" sz="27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Subtracting the system's mean velocity from all particles enforces zero net momentum, preventing artificial macroscopic drift.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I</a:t>
              </a: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nitialization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9124950" y="3243571"/>
            <a:ext cx="0" cy="37998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014656"/>
            <a:ext cx="16230600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Hard walls cause surface effects; periodic boundaries remove them, making a finite system behave like an infinite bulk fluid.</a:t>
            </a:r>
          </a:p>
          <a:p>
            <a:pPr algn="l">
              <a:lnSpc>
                <a:spcPts val="3240"/>
              </a:lnSpc>
            </a:pP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ensures that system behaves like an “infinite bulk fluid” by eliminating boundary effects.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22782" y="5143500"/>
            <a:ext cx="8115300" cy="2453770"/>
            <a:chOff x="0" y="0"/>
            <a:chExt cx="2137363" cy="6462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37363" cy="646260"/>
            </a:xfrm>
            <a:custGeom>
              <a:avLst/>
              <a:gdLst/>
              <a:ahLst/>
              <a:cxnLst/>
              <a:rect r="r" b="b" t="t" l="l"/>
              <a:pathLst>
                <a:path h="646260" w="2137363">
                  <a:moveTo>
                    <a:pt x="16218" y="0"/>
                  </a:moveTo>
                  <a:lnTo>
                    <a:pt x="2121145" y="0"/>
                  </a:lnTo>
                  <a:cubicBezTo>
                    <a:pt x="2130102" y="0"/>
                    <a:pt x="2137363" y="7261"/>
                    <a:pt x="2137363" y="16218"/>
                  </a:cubicBezTo>
                  <a:lnTo>
                    <a:pt x="2137363" y="630043"/>
                  </a:lnTo>
                  <a:cubicBezTo>
                    <a:pt x="2137363" y="638999"/>
                    <a:pt x="2130102" y="646260"/>
                    <a:pt x="2121145" y="646260"/>
                  </a:cubicBezTo>
                  <a:lnTo>
                    <a:pt x="16218" y="646260"/>
                  </a:lnTo>
                  <a:cubicBezTo>
                    <a:pt x="7261" y="646260"/>
                    <a:pt x="0" y="638999"/>
                    <a:pt x="0" y="630043"/>
                  </a:cubicBezTo>
                  <a:lnTo>
                    <a:pt x="0" y="16218"/>
                  </a:lnTo>
                  <a:cubicBezTo>
                    <a:pt x="0" y="7261"/>
                    <a:pt x="7261" y="0"/>
                    <a:pt x="16218" y="0"/>
                  </a:cubicBezTo>
                  <a:close/>
                </a:path>
              </a:pathLst>
            </a:custGeom>
            <a:solidFill>
              <a:srgbClr val="D4FFD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37363" cy="684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01564" y="5330950"/>
            <a:ext cx="7757736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8"/>
              </a:lnSpc>
              <a:spcBef>
                <a:spcPct val="0"/>
              </a:spcBef>
            </a:pPr>
            <a:r>
              <a:rPr lang="en-US" sz="26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Pairwise interactions are computed only between a particle and the single closest image of its neighbor.Strictly requires the cutoff radius to be less than half the box length (rc &lt;= L/2) to prevent unphysical self-interactions.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Periodic Boundary Conditions(PBC)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5143500"/>
            <a:ext cx="8115300" cy="2453770"/>
            <a:chOff x="0" y="0"/>
            <a:chExt cx="2137363" cy="6462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7363" cy="646260"/>
            </a:xfrm>
            <a:custGeom>
              <a:avLst/>
              <a:gdLst/>
              <a:ahLst/>
              <a:cxnLst/>
              <a:rect r="r" b="b" t="t" l="l"/>
              <a:pathLst>
                <a:path h="646260" w="2137363">
                  <a:moveTo>
                    <a:pt x="16218" y="0"/>
                  </a:moveTo>
                  <a:lnTo>
                    <a:pt x="2121145" y="0"/>
                  </a:lnTo>
                  <a:cubicBezTo>
                    <a:pt x="2130102" y="0"/>
                    <a:pt x="2137363" y="7261"/>
                    <a:pt x="2137363" y="16218"/>
                  </a:cubicBezTo>
                  <a:lnTo>
                    <a:pt x="2137363" y="630043"/>
                  </a:lnTo>
                  <a:cubicBezTo>
                    <a:pt x="2137363" y="638999"/>
                    <a:pt x="2130102" y="646260"/>
                    <a:pt x="2121145" y="646260"/>
                  </a:cubicBezTo>
                  <a:lnTo>
                    <a:pt x="16218" y="646260"/>
                  </a:lnTo>
                  <a:cubicBezTo>
                    <a:pt x="7261" y="646260"/>
                    <a:pt x="0" y="638999"/>
                    <a:pt x="0" y="630043"/>
                  </a:cubicBezTo>
                  <a:lnTo>
                    <a:pt x="0" y="16218"/>
                  </a:lnTo>
                  <a:cubicBezTo>
                    <a:pt x="0" y="7261"/>
                    <a:pt x="7261" y="0"/>
                    <a:pt x="16218" y="0"/>
                  </a:cubicBezTo>
                  <a:close/>
                </a:path>
              </a:pathLst>
            </a:custGeom>
            <a:solidFill>
              <a:srgbClr val="D4FFD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37363" cy="684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5330950"/>
            <a:ext cx="8188837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Minimum Image  Convention</a:t>
            </a:r>
          </a:p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to find the distance between particle i and particle j.because of PBCs, the closest version of particle j might actually be across the boundary. to handle this Minimum Image Convention methood is used.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50824" y="5784209"/>
            <a:ext cx="5801989" cy="922935"/>
            <a:chOff x="0" y="0"/>
            <a:chExt cx="1528096" cy="2430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8096" cy="243078"/>
            </a:xfrm>
            <a:custGeom>
              <a:avLst/>
              <a:gdLst/>
              <a:ahLst/>
              <a:cxnLst/>
              <a:rect r="r" b="b" t="t" l="l"/>
              <a:pathLst>
                <a:path h="243078" w="1528096">
                  <a:moveTo>
                    <a:pt x="68052" y="0"/>
                  </a:moveTo>
                  <a:lnTo>
                    <a:pt x="1460044" y="0"/>
                  </a:lnTo>
                  <a:cubicBezTo>
                    <a:pt x="1478092" y="0"/>
                    <a:pt x="1495402" y="7170"/>
                    <a:pt x="1508164" y="19932"/>
                  </a:cubicBezTo>
                  <a:cubicBezTo>
                    <a:pt x="1520926" y="32694"/>
                    <a:pt x="1528096" y="50004"/>
                    <a:pt x="1528096" y="68052"/>
                  </a:cubicBezTo>
                  <a:lnTo>
                    <a:pt x="1528096" y="175025"/>
                  </a:lnTo>
                  <a:cubicBezTo>
                    <a:pt x="1528096" y="193074"/>
                    <a:pt x="1520926" y="210383"/>
                    <a:pt x="1508164" y="223145"/>
                  </a:cubicBezTo>
                  <a:cubicBezTo>
                    <a:pt x="1495402" y="235908"/>
                    <a:pt x="1478092" y="243078"/>
                    <a:pt x="1460044" y="243078"/>
                  </a:cubicBezTo>
                  <a:lnTo>
                    <a:pt x="68052" y="243078"/>
                  </a:lnTo>
                  <a:cubicBezTo>
                    <a:pt x="50004" y="243078"/>
                    <a:pt x="32694" y="235908"/>
                    <a:pt x="19932" y="223145"/>
                  </a:cubicBezTo>
                  <a:cubicBezTo>
                    <a:pt x="7170" y="210383"/>
                    <a:pt x="0" y="193074"/>
                    <a:pt x="0" y="175025"/>
                  </a:cubicBezTo>
                  <a:lnTo>
                    <a:pt x="0" y="68052"/>
                  </a:lnTo>
                  <a:cubicBezTo>
                    <a:pt x="0" y="50004"/>
                    <a:pt x="7170" y="32694"/>
                    <a:pt x="19932" y="19932"/>
                  </a:cubicBezTo>
                  <a:cubicBezTo>
                    <a:pt x="32694" y="7170"/>
                    <a:pt x="50004" y="0"/>
                    <a:pt x="68052" y="0"/>
                  </a:cubicBezTo>
                  <a:close/>
                </a:path>
              </a:pathLst>
            </a:custGeom>
            <a:solidFill>
              <a:srgbClr val="D4FF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28096" cy="281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16586" y="5969544"/>
            <a:ext cx="3199275" cy="557514"/>
          </a:xfrm>
          <a:custGeom>
            <a:avLst/>
            <a:gdLst/>
            <a:ahLst/>
            <a:cxnLst/>
            <a:rect r="r" b="b" t="t" l="l"/>
            <a:pathLst>
              <a:path h="557514" w="3199275">
                <a:moveTo>
                  <a:pt x="0" y="0"/>
                </a:moveTo>
                <a:lnTo>
                  <a:pt x="3199276" y="0"/>
                </a:lnTo>
                <a:lnTo>
                  <a:pt x="3199276" y="557515"/>
                </a:lnTo>
                <a:lnTo>
                  <a:pt x="0" y="557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7"/>
                </a:lnSpc>
              </a:pPr>
              <a:r>
                <a:rPr lang="en-US" sz="5099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F</a:t>
              </a:r>
              <a:r>
                <a:rPr lang="en-US" sz="5099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orce Calculation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90959" y="7725242"/>
            <a:ext cx="6321719" cy="729510"/>
            <a:chOff x="0" y="0"/>
            <a:chExt cx="1664980" cy="1921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64980" cy="192134"/>
            </a:xfrm>
            <a:custGeom>
              <a:avLst/>
              <a:gdLst/>
              <a:ahLst/>
              <a:cxnLst/>
              <a:rect r="r" b="b" t="t" l="l"/>
              <a:pathLst>
                <a:path h="192134" w="1664980">
                  <a:moveTo>
                    <a:pt x="62457" y="0"/>
                  </a:moveTo>
                  <a:lnTo>
                    <a:pt x="1602522" y="0"/>
                  </a:lnTo>
                  <a:cubicBezTo>
                    <a:pt x="1619087" y="0"/>
                    <a:pt x="1634973" y="6580"/>
                    <a:pt x="1646686" y="18293"/>
                  </a:cubicBezTo>
                  <a:cubicBezTo>
                    <a:pt x="1658399" y="30006"/>
                    <a:pt x="1664980" y="45893"/>
                    <a:pt x="1664980" y="62457"/>
                  </a:cubicBezTo>
                  <a:lnTo>
                    <a:pt x="1664980" y="129677"/>
                  </a:lnTo>
                  <a:cubicBezTo>
                    <a:pt x="1664980" y="146242"/>
                    <a:pt x="1658399" y="162128"/>
                    <a:pt x="1646686" y="173841"/>
                  </a:cubicBezTo>
                  <a:cubicBezTo>
                    <a:pt x="1634973" y="185554"/>
                    <a:pt x="1619087" y="192134"/>
                    <a:pt x="1602522" y="192134"/>
                  </a:cubicBezTo>
                  <a:lnTo>
                    <a:pt x="62457" y="192134"/>
                  </a:lnTo>
                  <a:cubicBezTo>
                    <a:pt x="45893" y="192134"/>
                    <a:pt x="30006" y="185554"/>
                    <a:pt x="18293" y="173841"/>
                  </a:cubicBezTo>
                  <a:cubicBezTo>
                    <a:pt x="6580" y="162128"/>
                    <a:pt x="0" y="146242"/>
                    <a:pt x="0" y="129677"/>
                  </a:cubicBezTo>
                  <a:lnTo>
                    <a:pt x="0" y="62457"/>
                  </a:lnTo>
                  <a:cubicBezTo>
                    <a:pt x="0" y="45893"/>
                    <a:pt x="6580" y="30006"/>
                    <a:pt x="18293" y="18293"/>
                  </a:cubicBezTo>
                  <a:cubicBezTo>
                    <a:pt x="30006" y="6580"/>
                    <a:pt x="45893" y="0"/>
                    <a:pt x="62457" y="0"/>
                  </a:cubicBezTo>
                  <a:close/>
                </a:path>
              </a:pathLst>
            </a:custGeom>
            <a:solidFill>
              <a:srgbClr val="D4FF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64980" cy="230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016373" y="7831683"/>
            <a:ext cx="3799702" cy="623069"/>
          </a:xfrm>
          <a:custGeom>
            <a:avLst/>
            <a:gdLst/>
            <a:ahLst/>
            <a:cxnLst/>
            <a:rect r="r" b="b" t="t" l="l"/>
            <a:pathLst>
              <a:path h="623069" w="3799702">
                <a:moveTo>
                  <a:pt x="0" y="0"/>
                </a:moveTo>
                <a:lnTo>
                  <a:pt x="3799702" y="0"/>
                </a:lnTo>
                <a:lnTo>
                  <a:pt x="3799702" y="623069"/>
                </a:lnTo>
                <a:lnTo>
                  <a:pt x="0" y="623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990959" y="3520752"/>
            <a:ext cx="6321719" cy="1245526"/>
            <a:chOff x="0" y="0"/>
            <a:chExt cx="1664980" cy="328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64980" cy="328040"/>
            </a:xfrm>
            <a:custGeom>
              <a:avLst/>
              <a:gdLst/>
              <a:ahLst/>
              <a:cxnLst/>
              <a:rect r="r" b="b" t="t" l="l"/>
              <a:pathLst>
                <a:path h="328040" w="1664980">
                  <a:moveTo>
                    <a:pt x="62457" y="0"/>
                  </a:moveTo>
                  <a:lnTo>
                    <a:pt x="1602522" y="0"/>
                  </a:lnTo>
                  <a:cubicBezTo>
                    <a:pt x="1619087" y="0"/>
                    <a:pt x="1634973" y="6580"/>
                    <a:pt x="1646686" y="18293"/>
                  </a:cubicBezTo>
                  <a:cubicBezTo>
                    <a:pt x="1658399" y="30006"/>
                    <a:pt x="1664980" y="45893"/>
                    <a:pt x="1664980" y="62457"/>
                  </a:cubicBezTo>
                  <a:lnTo>
                    <a:pt x="1664980" y="265582"/>
                  </a:lnTo>
                  <a:cubicBezTo>
                    <a:pt x="1664980" y="282147"/>
                    <a:pt x="1658399" y="298033"/>
                    <a:pt x="1646686" y="309746"/>
                  </a:cubicBezTo>
                  <a:cubicBezTo>
                    <a:pt x="1634973" y="321459"/>
                    <a:pt x="1619087" y="328040"/>
                    <a:pt x="1602522" y="328040"/>
                  </a:cubicBezTo>
                  <a:lnTo>
                    <a:pt x="62457" y="328040"/>
                  </a:lnTo>
                  <a:cubicBezTo>
                    <a:pt x="45893" y="328040"/>
                    <a:pt x="30006" y="321459"/>
                    <a:pt x="18293" y="309746"/>
                  </a:cubicBezTo>
                  <a:cubicBezTo>
                    <a:pt x="6580" y="298033"/>
                    <a:pt x="0" y="282147"/>
                    <a:pt x="0" y="265582"/>
                  </a:cubicBezTo>
                  <a:lnTo>
                    <a:pt x="0" y="62457"/>
                  </a:lnTo>
                  <a:cubicBezTo>
                    <a:pt x="0" y="45893"/>
                    <a:pt x="6580" y="30006"/>
                    <a:pt x="18293" y="18293"/>
                  </a:cubicBezTo>
                  <a:cubicBezTo>
                    <a:pt x="30006" y="6580"/>
                    <a:pt x="45893" y="0"/>
                    <a:pt x="62457" y="0"/>
                  </a:cubicBezTo>
                  <a:close/>
                </a:path>
              </a:pathLst>
            </a:custGeom>
            <a:solidFill>
              <a:srgbClr val="D4FFD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64980" cy="366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534495" y="3652483"/>
            <a:ext cx="5753505" cy="982064"/>
          </a:xfrm>
          <a:custGeom>
            <a:avLst/>
            <a:gdLst/>
            <a:ahLst/>
            <a:cxnLst/>
            <a:rect r="r" b="b" t="t" l="l"/>
            <a:pathLst>
              <a:path h="982064" w="5753505">
                <a:moveTo>
                  <a:pt x="0" y="0"/>
                </a:moveTo>
                <a:lnTo>
                  <a:pt x="5753505" y="0"/>
                </a:lnTo>
                <a:lnTo>
                  <a:pt x="5753505" y="982063"/>
                </a:lnTo>
                <a:lnTo>
                  <a:pt x="0" y="9820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57300" y="2478882"/>
            <a:ext cx="978655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Forces are computed using the Lennard-Jones (LJ) potential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90959" y="3735082"/>
            <a:ext cx="6321719" cy="86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  <a:spcBef>
                <a:spcPct val="0"/>
              </a:spcBef>
            </a:pPr>
            <a:r>
              <a:rPr lang="en-US" sz="2705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For each particle pair (i,j)(i, j)(i,j):</a:t>
            </a:r>
          </a:p>
          <a:p>
            <a:pPr algn="ctr">
              <a:lnSpc>
                <a:spcPts val="3246"/>
              </a:lnSpc>
              <a:spcBef>
                <a:spcPct val="0"/>
              </a:spcBef>
            </a:pPr>
            <a:r>
              <a:rPr lang="en-US" sz="2705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Apply minimum image convention (PBC)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81741" y="5969127"/>
            <a:ext cx="4725014" cy="50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3"/>
              </a:lnSpc>
              <a:spcBef>
                <a:spcPct val="0"/>
              </a:spcBef>
            </a:pPr>
            <a:r>
              <a:rPr lang="en-US" sz="296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Compute squared distance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05206" y="7881280"/>
            <a:ext cx="587808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If r&lt;rc (cutoff radius), compute force:</a:t>
            </a:r>
          </a:p>
        </p:txBody>
      </p:sp>
      <p:sp>
        <p:nvSpPr>
          <p:cNvPr name="AutoShape 21" id="21"/>
          <p:cNvSpPr/>
          <p:nvPr/>
        </p:nvSpPr>
        <p:spPr>
          <a:xfrm flipH="true">
            <a:off x="9151818" y="4766278"/>
            <a:ext cx="0" cy="101793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>
            <a:off x="9151818" y="6707143"/>
            <a:ext cx="0" cy="101809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612482"/>
            <a:ext cx="6278694" cy="1021021"/>
          </a:xfrm>
          <a:custGeom>
            <a:avLst/>
            <a:gdLst/>
            <a:ahLst/>
            <a:cxnLst/>
            <a:rect r="r" b="b" t="t" l="l"/>
            <a:pathLst>
              <a:path h="1021021" w="6278694">
                <a:moveTo>
                  <a:pt x="0" y="0"/>
                </a:moveTo>
                <a:lnTo>
                  <a:pt x="6278694" y="0"/>
                </a:lnTo>
                <a:lnTo>
                  <a:pt x="6278694" y="1021021"/>
                </a:lnTo>
                <a:lnTo>
                  <a:pt x="0" y="1021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18713" y="5635997"/>
            <a:ext cx="6840587" cy="973991"/>
          </a:xfrm>
          <a:custGeom>
            <a:avLst/>
            <a:gdLst/>
            <a:ahLst/>
            <a:cxnLst/>
            <a:rect r="r" b="b" t="t" l="l"/>
            <a:pathLst>
              <a:path h="973991" w="6840587">
                <a:moveTo>
                  <a:pt x="0" y="0"/>
                </a:moveTo>
                <a:lnTo>
                  <a:pt x="6840587" y="0"/>
                </a:lnTo>
                <a:lnTo>
                  <a:pt x="6840587" y="973991"/>
                </a:lnTo>
                <a:lnTo>
                  <a:pt x="0" y="973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3016" y="4802857"/>
            <a:ext cx="471308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b="true" sz="331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Step 1: Position Update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61352" y="4838700"/>
            <a:ext cx="454235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b="true" sz="331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Step 2:</a:t>
            </a:r>
            <a:r>
              <a:rPr lang="en-US" b="true" sz="331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Velocity Update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43600" y="2850469"/>
            <a:ext cx="64008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used to evolve the system in time.</a:t>
            </a:r>
          </a:p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requires forces as input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V</a:t>
              </a: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elocity Verlet Integration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9134475" y="4509810"/>
            <a:ext cx="9525" cy="25633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43222" y="8184211"/>
            <a:ext cx="5062044" cy="1074089"/>
          </a:xfrm>
          <a:custGeom>
            <a:avLst/>
            <a:gdLst/>
            <a:ahLst/>
            <a:cxnLst/>
            <a:rect r="r" b="b" t="t" l="l"/>
            <a:pathLst>
              <a:path h="1074089" w="5062044">
                <a:moveTo>
                  <a:pt x="0" y="0"/>
                </a:moveTo>
                <a:lnTo>
                  <a:pt x="5062044" y="0"/>
                </a:lnTo>
                <a:lnTo>
                  <a:pt x="5062044" y="1074089"/>
                </a:lnTo>
                <a:lnTo>
                  <a:pt x="0" y="1074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33920" y="8182174"/>
            <a:ext cx="3555895" cy="1076126"/>
          </a:xfrm>
          <a:custGeom>
            <a:avLst/>
            <a:gdLst/>
            <a:ahLst/>
            <a:cxnLst/>
            <a:rect r="r" b="b" t="t" l="l"/>
            <a:pathLst>
              <a:path h="1076126" w="3555895">
                <a:moveTo>
                  <a:pt x="0" y="0"/>
                </a:moveTo>
                <a:lnTo>
                  <a:pt x="3555895" y="0"/>
                </a:lnTo>
                <a:lnTo>
                  <a:pt x="3555895" y="1076126"/>
                </a:lnTo>
                <a:lnTo>
                  <a:pt x="0" y="1076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9105266" y="8720237"/>
            <a:ext cx="1428654" cy="101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" id="5"/>
          <p:cNvGrpSpPr/>
          <p:nvPr/>
        </p:nvGrpSpPr>
        <p:grpSpPr>
          <a:xfrm rot="0">
            <a:off x="1296048" y="540642"/>
            <a:ext cx="15773400" cy="1988345"/>
            <a:chOff x="0" y="0"/>
            <a:chExt cx="21031200" cy="2651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573" r="0" b="-104573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Radia</a:t>
              </a: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l Distribution Function g(r)(RDF)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26678" y="4673634"/>
            <a:ext cx="7512139" cy="1628058"/>
            <a:chOff x="0" y="0"/>
            <a:chExt cx="1978506" cy="4287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8506" cy="428789"/>
            </a:xfrm>
            <a:custGeom>
              <a:avLst/>
              <a:gdLst/>
              <a:ahLst/>
              <a:cxnLst/>
              <a:rect r="r" b="b" t="t" l="l"/>
              <a:pathLst>
                <a:path h="428789" w="1978506">
                  <a:moveTo>
                    <a:pt x="52560" y="0"/>
                  </a:moveTo>
                  <a:lnTo>
                    <a:pt x="1925946" y="0"/>
                  </a:lnTo>
                  <a:cubicBezTo>
                    <a:pt x="1939886" y="0"/>
                    <a:pt x="1953254" y="5538"/>
                    <a:pt x="1963111" y="15394"/>
                  </a:cubicBezTo>
                  <a:cubicBezTo>
                    <a:pt x="1972968" y="25251"/>
                    <a:pt x="1978506" y="38620"/>
                    <a:pt x="1978506" y="52560"/>
                  </a:cubicBezTo>
                  <a:lnTo>
                    <a:pt x="1978506" y="376229"/>
                  </a:lnTo>
                  <a:cubicBezTo>
                    <a:pt x="1978506" y="405257"/>
                    <a:pt x="1954974" y="428789"/>
                    <a:pt x="1925946" y="428789"/>
                  </a:cubicBezTo>
                  <a:lnTo>
                    <a:pt x="52560" y="428789"/>
                  </a:lnTo>
                  <a:cubicBezTo>
                    <a:pt x="23532" y="428789"/>
                    <a:pt x="0" y="405257"/>
                    <a:pt x="0" y="376229"/>
                  </a:cubicBezTo>
                  <a:lnTo>
                    <a:pt x="0" y="52560"/>
                  </a:lnTo>
                  <a:cubicBezTo>
                    <a:pt x="0" y="23532"/>
                    <a:pt x="23532" y="0"/>
                    <a:pt x="52560" y="0"/>
                  </a:cubicBezTo>
                  <a:close/>
                </a:path>
              </a:pathLst>
            </a:custGeom>
            <a:solidFill>
              <a:srgbClr val="D4FF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78506" cy="466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665403" y="4816150"/>
            <a:ext cx="7034689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Gas: g(r)≈1 everywhere</a:t>
            </a:r>
          </a:p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Liquid: Peaks at short distances, then decays</a:t>
            </a:r>
          </a:p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Solid: Sharp periodic peaks (long-range order)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7300" y="2462312"/>
            <a:ext cx="16002000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g(r) is the normalized probability of finding a particle at a distance r from a reference particle compared to an ideal gas</a:t>
            </a: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tells how particles are spatially arranged in the system.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6048" y="6893764"/>
            <a:ext cx="157734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Sampling is the process of collecting data from multiple configurations of a system to compute average physical properties.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2160" y="2523286"/>
            <a:ext cx="6537140" cy="4853826"/>
          </a:xfrm>
          <a:custGeom>
            <a:avLst/>
            <a:gdLst/>
            <a:ahLst/>
            <a:cxnLst/>
            <a:rect r="r" b="b" t="t" l="l"/>
            <a:pathLst>
              <a:path h="4853826" w="6537140">
                <a:moveTo>
                  <a:pt x="0" y="0"/>
                </a:moveTo>
                <a:lnTo>
                  <a:pt x="6537140" y="0"/>
                </a:lnTo>
                <a:lnTo>
                  <a:pt x="6537140" y="4853826"/>
                </a:lnTo>
                <a:lnTo>
                  <a:pt x="0" y="48538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592276" y="7579240"/>
            <a:ext cx="279690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true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Radial Distribution Function g(r) for a well-equilibrated Lennard-Jones liquid.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748486" y="4745797"/>
            <a:ext cx="2575968" cy="795405"/>
            <a:chOff x="0" y="0"/>
            <a:chExt cx="678444" cy="2094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8444" cy="209489"/>
            </a:xfrm>
            <a:custGeom>
              <a:avLst/>
              <a:gdLst/>
              <a:ahLst/>
              <a:cxnLst/>
              <a:rect r="r" b="b" t="t" l="l"/>
              <a:pathLst>
                <a:path h="209489" w="678444">
                  <a:moveTo>
                    <a:pt x="51093" y="0"/>
                  </a:moveTo>
                  <a:lnTo>
                    <a:pt x="627352" y="0"/>
                  </a:lnTo>
                  <a:cubicBezTo>
                    <a:pt x="640902" y="0"/>
                    <a:pt x="653898" y="5383"/>
                    <a:pt x="663480" y="14965"/>
                  </a:cubicBezTo>
                  <a:cubicBezTo>
                    <a:pt x="673061" y="24546"/>
                    <a:pt x="678444" y="37542"/>
                    <a:pt x="678444" y="51093"/>
                  </a:cubicBezTo>
                  <a:lnTo>
                    <a:pt x="678444" y="158397"/>
                  </a:lnTo>
                  <a:cubicBezTo>
                    <a:pt x="678444" y="171948"/>
                    <a:pt x="673061" y="184943"/>
                    <a:pt x="663480" y="194525"/>
                  </a:cubicBezTo>
                  <a:cubicBezTo>
                    <a:pt x="653898" y="204107"/>
                    <a:pt x="640902" y="209489"/>
                    <a:pt x="627352" y="209489"/>
                  </a:cubicBezTo>
                  <a:lnTo>
                    <a:pt x="51093" y="209489"/>
                  </a:lnTo>
                  <a:cubicBezTo>
                    <a:pt x="37542" y="209489"/>
                    <a:pt x="24546" y="204107"/>
                    <a:pt x="14965" y="194525"/>
                  </a:cubicBezTo>
                  <a:cubicBezTo>
                    <a:pt x="5383" y="184943"/>
                    <a:pt x="0" y="171948"/>
                    <a:pt x="0" y="158397"/>
                  </a:cubicBezTo>
                  <a:lnTo>
                    <a:pt x="0" y="51093"/>
                  </a:lnTo>
                  <a:cubicBezTo>
                    <a:pt x="0" y="37542"/>
                    <a:pt x="5383" y="24546"/>
                    <a:pt x="14965" y="14965"/>
                  </a:cubicBezTo>
                  <a:cubicBezTo>
                    <a:pt x="24546" y="5383"/>
                    <a:pt x="37542" y="0"/>
                    <a:pt x="51093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678444" cy="266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2952766"/>
            <a:ext cx="7419257" cy="50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fo</a:t>
            </a: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 r &lt; 1.0, The repulsive core of  LJ potential is working correctly.</a:t>
            </a: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The Primary Peak (r approx. 1.1),formation of a stable "first coordination shell".</a:t>
            </a: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Decaying Oscillations: system is liquid.</a:t>
            </a: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Convergence to 1.0 at Long Distances:  system has reached thermal equilibrium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7462" y="4752959"/>
            <a:ext cx="2496992" cy="788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6"/>
              </a:lnSpc>
              <a:spcBef>
                <a:spcPct val="0"/>
              </a:spcBef>
            </a:pPr>
            <a:r>
              <a:rPr lang="en-US" sz="1672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atoms are properly clustering together like a real fluid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86730" y="8518057"/>
            <a:ext cx="2987966" cy="1161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4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probability of finding a particle perfectly matches the macroscopic bulk density of the box.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96048" y="540642"/>
            <a:ext cx="15773400" cy="1988345"/>
            <a:chOff x="0" y="0"/>
            <a:chExt cx="21031200" cy="26511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73" r="0" b="-104573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Ana</a:t>
              </a: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lysis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5471303" y="5143500"/>
            <a:ext cx="224862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286730" y="8510843"/>
            <a:ext cx="2987966" cy="1214314"/>
            <a:chOff x="0" y="0"/>
            <a:chExt cx="786954" cy="3198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6954" cy="319819"/>
            </a:xfrm>
            <a:custGeom>
              <a:avLst/>
              <a:gdLst/>
              <a:ahLst/>
              <a:cxnLst/>
              <a:rect r="r" b="b" t="t" l="l"/>
              <a:pathLst>
                <a:path h="319819" w="786954">
                  <a:moveTo>
                    <a:pt x="44048" y="0"/>
                  </a:moveTo>
                  <a:lnTo>
                    <a:pt x="742906" y="0"/>
                  </a:lnTo>
                  <a:cubicBezTo>
                    <a:pt x="754589" y="0"/>
                    <a:pt x="765792" y="4641"/>
                    <a:pt x="774053" y="12901"/>
                  </a:cubicBezTo>
                  <a:cubicBezTo>
                    <a:pt x="782313" y="21162"/>
                    <a:pt x="786954" y="32365"/>
                    <a:pt x="786954" y="44048"/>
                  </a:cubicBezTo>
                  <a:lnTo>
                    <a:pt x="786954" y="275772"/>
                  </a:lnTo>
                  <a:cubicBezTo>
                    <a:pt x="786954" y="287454"/>
                    <a:pt x="782313" y="298658"/>
                    <a:pt x="774053" y="306918"/>
                  </a:cubicBezTo>
                  <a:cubicBezTo>
                    <a:pt x="765792" y="315179"/>
                    <a:pt x="754589" y="319819"/>
                    <a:pt x="742906" y="319819"/>
                  </a:cubicBezTo>
                  <a:lnTo>
                    <a:pt x="44048" y="319819"/>
                  </a:lnTo>
                  <a:cubicBezTo>
                    <a:pt x="32365" y="319819"/>
                    <a:pt x="21162" y="315179"/>
                    <a:pt x="12901" y="306918"/>
                  </a:cubicBezTo>
                  <a:cubicBezTo>
                    <a:pt x="4641" y="298658"/>
                    <a:pt x="0" y="287454"/>
                    <a:pt x="0" y="275772"/>
                  </a:cubicBezTo>
                  <a:lnTo>
                    <a:pt x="0" y="44048"/>
                  </a:lnTo>
                  <a:cubicBezTo>
                    <a:pt x="0" y="32365"/>
                    <a:pt x="4641" y="21162"/>
                    <a:pt x="12901" y="12901"/>
                  </a:cubicBezTo>
                  <a:cubicBezTo>
                    <a:pt x="21162" y="4641"/>
                    <a:pt x="32365" y="0"/>
                    <a:pt x="44048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86954" cy="376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5471303" y="7772400"/>
            <a:ext cx="130940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6780713" y="7772400"/>
            <a:ext cx="0" cy="78375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3347" y="4357036"/>
            <a:ext cx="4057096" cy="2577870"/>
          </a:xfrm>
          <a:custGeom>
            <a:avLst/>
            <a:gdLst/>
            <a:ahLst/>
            <a:cxnLst/>
            <a:rect r="r" b="b" t="t" l="l"/>
            <a:pathLst>
              <a:path h="2577870" w="4057096">
                <a:moveTo>
                  <a:pt x="0" y="0"/>
                </a:moveTo>
                <a:lnTo>
                  <a:pt x="4057096" y="0"/>
                </a:lnTo>
                <a:lnTo>
                  <a:pt x="4057096" y="2577870"/>
                </a:lnTo>
                <a:lnTo>
                  <a:pt x="0" y="2577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509" r="-8834" b="-26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21563" y="4357036"/>
            <a:ext cx="3611570" cy="2577870"/>
          </a:xfrm>
          <a:custGeom>
            <a:avLst/>
            <a:gdLst/>
            <a:ahLst/>
            <a:cxnLst/>
            <a:rect r="r" b="b" t="t" l="l"/>
            <a:pathLst>
              <a:path h="2577870" w="3611570">
                <a:moveTo>
                  <a:pt x="0" y="0"/>
                </a:moveTo>
                <a:lnTo>
                  <a:pt x="3611571" y="0"/>
                </a:lnTo>
                <a:lnTo>
                  <a:pt x="3611571" y="2577870"/>
                </a:lnTo>
                <a:lnTo>
                  <a:pt x="0" y="2577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156" r="-20848" b="-571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80443" y="4357036"/>
            <a:ext cx="3841120" cy="2577870"/>
          </a:xfrm>
          <a:custGeom>
            <a:avLst/>
            <a:gdLst/>
            <a:ahLst/>
            <a:cxnLst/>
            <a:rect r="r" b="b" t="t" l="l"/>
            <a:pathLst>
              <a:path h="2577870" w="3841120">
                <a:moveTo>
                  <a:pt x="0" y="0"/>
                </a:moveTo>
                <a:lnTo>
                  <a:pt x="3841120" y="0"/>
                </a:lnTo>
                <a:lnTo>
                  <a:pt x="3841120" y="2577870"/>
                </a:lnTo>
                <a:lnTo>
                  <a:pt x="0" y="25778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871" r="-1307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33134" y="4357036"/>
            <a:ext cx="3809014" cy="2577870"/>
          </a:xfrm>
          <a:custGeom>
            <a:avLst/>
            <a:gdLst/>
            <a:ahLst/>
            <a:cxnLst/>
            <a:rect r="r" b="b" t="t" l="l"/>
            <a:pathLst>
              <a:path h="2577870" w="3809014">
                <a:moveTo>
                  <a:pt x="0" y="0"/>
                </a:moveTo>
                <a:lnTo>
                  <a:pt x="3809014" y="0"/>
                </a:lnTo>
                <a:lnTo>
                  <a:pt x="3809014" y="2577870"/>
                </a:lnTo>
                <a:lnTo>
                  <a:pt x="0" y="2577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208" r="-15056" b="-576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96048" y="2462312"/>
            <a:ext cx="14666469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class of systems made of individual units that consume energy and generate motion or forces on their own.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39086" y="7078916"/>
            <a:ext cx="1482716" cy="42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44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Bird flocks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41224" y="7088441"/>
            <a:ext cx="1845509" cy="42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fish shoals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96048" y="540642"/>
            <a:ext cx="15773400" cy="1988345"/>
            <a:chOff x="0" y="0"/>
            <a:chExt cx="21031200" cy="26511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4573" r="0" b="-104573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Active matter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24920" y="2989639"/>
            <a:ext cx="1612624" cy="674562"/>
          </a:xfrm>
          <a:custGeom>
            <a:avLst/>
            <a:gdLst/>
            <a:ahLst/>
            <a:cxnLst/>
            <a:rect r="r" b="b" t="t" l="l"/>
            <a:pathLst>
              <a:path h="674562" w="1612624">
                <a:moveTo>
                  <a:pt x="0" y="0"/>
                </a:moveTo>
                <a:lnTo>
                  <a:pt x="1612623" y="0"/>
                </a:lnTo>
                <a:lnTo>
                  <a:pt x="1612623" y="674562"/>
                </a:lnTo>
                <a:lnTo>
                  <a:pt x="0" y="674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3681261" y="4195341"/>
          <a:ext cx="5657850" cy="3143250"/>
        </p:xfrm>
        <a:graphic>
          <a:graphicData uri="http://schemas.openxmlformats.org/presentationml/2006/ole">
            <p:oleObj imgW="6781800" imgH="4267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3512412" y="2566981"/>
            <a:ext cx="545668" cy="350017"/>
            <a:chOff x="0" y="0"/>
            <a:chExt cx="812800" cy="5213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21367"/>
            </a:xfrm>
            <a:custGeom>
              <a:avLst/>
              <a:gdLst/>
              <a:ahLst/>
              <a:cxnLst/>
              <a:rect r="r" b="b" t="t" l="l"/>
              <a:pathLst>
                <a:path h="521367" w="812800">
                  <a:moveTo>
                    <a:pt x="812800" y="260684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18167"/>
                  </a:lnTo>
                  <a:lnTo>
                    <a:pt x="406400" y="318167"/>
                  </a:lnTo>
                  <a:lnTo>
                    <a:pt x="406400" y="521367"/>
                  </a:lnTo>
                  <a:lnTo>
                    <a:pt x="812800" y="26068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46050"/>
              <a:ext cx="711200" cy="172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058081" y="2437189"/>
            <a:ext cx="374630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s</a:t>
            </a: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elf-driven particles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27664"/>
            <a:ext cx="243125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Active matter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26525" y="2189539"/>
            <a:ext cx="311814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continuously consume energy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13164" y="1941889"/>
            <a:ext cx="5341909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non-equilibrium dynamics and emergent collective behavior.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923707" y="2566981"/>
            <a:ext cx="545668" cy="350017"/>
            <a:chOff x="0" y="0"/>
            <a:chExt cx="812800" cy="5213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521367"/>
            </a:xfrm>
            <a:custGeom>
              <a:avLst/>
              <a:gdLst/>
              <a:ahLst/>
              <a:cxnLst/>
              <a:rect r="r" b="b" t="t" l="l"/>
              <a:pathLst>
                <a:path h="521367" w="812800">
                  <a:moveTo>
                    <a:pt x="812800" y="260684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18167"/>
                  </a:lnTo>
                  <a:lnTo>
                    <a:pt x="406400" y="318167"/>
                  </a:lnTo>
                  <a:lnTo>
                    <a:pt x="406400" y="521367"/>
                  </a:lnTo>
                  <a:lnTo>
                    <a:pt x="812800" y="26068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46050"/>
              <a:ext cx="711200" cy="172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40330" y="2566981"/>
            <a:ext cx="545668" cy="350017"/>
            <a:chOff x="0" y="0"/>
            <a:chExt cx="812800" cy="5213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521367"/>
            </a:xfrm>
            <a:custGeom>
              <a:avLst/>
              <a:gdLst/>
              <a:ahLst/>
              <a:cxnLst/>
              <a:rect r="r" b="b" t="t" l="l"/>
              <a:pathLst>
                <a:path h="521367" w="812800">
                  <a:moveTo>
                    <a:pt x="812800" y="260684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18167"/>
                  </a:lnTo>
                  <a:lnTo>
                    <a:pt x="406400" y="318167"/>
                  </a:lnTo>
                  <a:lnTo>
                    <a:pt x="406400" y="521367"/>
                  </a:lnTo>
                  <a:lnTo>
                    <a:pt x="812800" y="26068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46050"/>
              <a:ext cx="711200" cy="172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048" y="540642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Vicsek Model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84802" y="2488366"/>
            <a:ext cx="4488274" cy="2978582"/>
          </a:xfrm>
          <a:custGeom>
            <a:avLst/>
            <a:gdLst/>
            <a:ahLst/>
            <a:cxnLst/>
            <a:rect r="r" b="b" t="t" l="l"/>
            <a:pathLst>
              <a:path h="2978582" w="4488274">
                <a:moveTo>
                  <a:pt x="0" y="0"/>
                </a:moveTo>
                <a:lnTo>
                  <a:pt x="4488274" y="0"/>
                </a:lnTo>
                <a:lnTo>
                  <a:pt x="4488274" y="2978582"/>
                </a:lnTo>
                <a:lnTo>
                  <a:pt x="0" y="2978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94303" y="2811814"/>
            <a:ext cx="10575145" cy="2331686"/>
          </a:xfrm>
          <a:custGeom>
            <a:avLst/>
            <a:gdLst/>
            <a:ahLst/>
            <a:cxnLst/>
            <a:rect r="r" b="b" t="t" l="l"/>
            <a:pathLst>
              <a:path h="2331686" w="10575145">
                <a:moveTo>
                  <a:pt x="0" y="0"/>
                </a:moveTo>
                <a:lnTo>
                  <a:pt x="10575145" y="0"/>
                </a:lnTo>
                <a:lnTo>
                  <a:pt x="10575145" y="2331686"/>
                </a:lnTo>
                <a:lnTo>
                  <a:pt x="0" y="2331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83" t="-35105" r="-2682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563575" y="5734050"/>
            <a:ext cx="15505873" cy="352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048" indent="-357524" lvl="1">
              <a:lnSpc>
                <a:spcPts val="3974"/>
              </a:lnSpc>
              <a:buFont typeface="Arial"/>
              <a:buChar char="•"/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 </a:t>
            </a: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minimal active matter model where self-propelled particles align with neighbors under “noise”, producing a non-equilibrium transition from disorder to flocking.</a:t>
            </a:r>
          </a:p>
          <a:p>
            <a:pPr algn="l">
              <a:lnSpc>
                <a:spcPts val="3974"/>
              </a:lnSpc>
            </a:pPr>
          </a:p>
          <a:p>
            <a:pPr algn="l" marL="715048" indent="-357524" lvl="1">
              <a:lnSpc>
                <a:spcPts val="3974"/>
              </a:lnSpc>
              <a:buFont typeface="Arial"/>
              <a:buChar char="•"/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Each particle Moves with constant speed v &amp;Changes direction based on neighbors &amp; also has noise (randomness)</a:t>
            </a:r>
          </a:p>
          <a:p>
            <a:pPr algn="l">
              <a:lnSpc>
                <a:spcPts val="397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789999" y="8953500"/>
            <a:ext cx="705302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alignment + noise → collective motion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048" y="540642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Role of MD in Vicsek Model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18552" y="2462312"/>
            <a:ext cx="1604074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MD simulates particle dynamics over time, allowing us to measure Va​ for different noise values and observe the phase transition.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95460" y="3768129"/>
            <a:ext cx="11686932" cy="601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Initialize particle positions and directions randomly</a:t>
            </a: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Apply periodic boundary conditions,evolve system in discrete time steps.</a:t>
            </a: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For each time step:</a:t>
            </a:r>
          </a:p>
          <a:p>
            <a:pPr algn="l" marL="1424940" indent="-474980" lvl="2">
              <a:lnSpc>
                <a:spcPts val="3960"/>
              </a:lnSpc>
              <a:buFont typeface="Arial"/>
              <a:buChar char="⚬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Identify neighbors within interaction radius</a:t>
            </a:r>
          </a:p>
          <a:p>
            <a:pPr algn="l" marL="1424940" indent="-474980" lvl="2">
              <a:lnSpc>
                <a:spcPts val="3960"/>
              </a:lnSpc>
              <a:buFont typeface="Arial"/>
              <a:buChar char="⚬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Compute average direction of neighbors</a:t>
            </a:r>
          </a:p>
          <a:p>
            <a:pPr algn="l" marL="1424940" indent="-474980" lvl="2">
              <a:lnSpc>
                <a:spcPts val="3960"/>
              </a:lnSpc>
              <a:buFont typeface="Arial"/>
              <a:buChar char="⚬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Add noise (η) to direction</a:t>
            </a:r>
          </a:p>
          <a:p>
            <a:pPr algn="l" marL="1424940" indent="-474980" lvl="2">
              <a:lnSpc>
                <a:spcPts val="3960"/>
              </a:lnSpc>
              <a:buFont typeface="Arial"/>
              <a:buChar char="⚬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Update particle positions with constant speed</a:t>
            </a: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Allow system to equilibrate, Compute order parameter va at each step, averaging​</a:t>
            </a: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Repeat simulation for different parameters: Noise, Density</a:t>
            </a: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Perform ensemble averaging over multiple trials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048" y="540642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Phase Transition Driven By Noise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48852" y="3133895"/>
            <a:ext cx="3581051" cy="709181"/>
            <a:chOff x="0" y="0"/>
            <a:chExt cx="943157" cy="1867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3157" cy="186780"/>
            </a:xfrm>
            <a:custGeom>
              <a:avLst/>
              <a:gdLst/>
              <a:ahLst/>
              <a:cxnLst/>
              <a:rect r="r" b="b" t="t" l="l"/>
              <a:pathLst>
                <a:path h="186780" w="943157">
                  <a:moveTo>
                    <a:pt x="0" y="0"/>
                  </a:moveTo>
                  <a:lnTo>
                    <a:pt x="943157" y="0"/>
                  </a:lnTo>
                  <a:lnTo>
                    <a:pt x="943157" y="186780"/>
                  </a:lnTo>
                  <a:lnTo>
                    <a:pt x="0" y="18678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43157" cy="243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471837"/>
            <a:ext cx="310788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b="true" sz="331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Implementaion: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31498" y="3174161"/>
            <a:ext cx="321575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Initialize particles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252793" y="4557452"/>
            <a:ext cx="9782413" cy="709181"/>
            <a:chOff x="0" y="0"/>
            <a:chExt cx="2576438" cy="1867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76438" cy="186780"/>
            </a:xfrm>
            <a:custGeom>
              <a:avLst/>
              <a:gdLst/>
              <a:ahLst/>
              <a:cxnLst/>
              <a:rect r="r" b="b" t="t" l="l"/>
              <a:pathLst>
                <a:path h="186780" w="2576438">
                  <a:moveTo>
                    <a:pt x="0" y="0"/>
                  </a:moveTo>
                  <a:lnTo>
                    <a:pt x="2576438" y="0"/>
                  </a:lnTo>
                  <a:lnTo>
                    <a:pt x="2576438" y="186780"/>
                  </a:lnTo>
                  <a:lnTo>
                    <a:pt x="0" y="18678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76438" cy="243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252793" y="4607243"/>
            <a:ext cx="978241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update directions using neighbor alignment &amp; noise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576368" y="5937993"/>
            <a:ext cx="3097164" cy="709181"/>
            <a:chOff x="0" y="0"/>
            <a:chExt cx="815714" cy="1867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5714" cy="186780"/>
            </a:xfrm>
            <a:custGeom>
              <a:avLst/>
              <a:gdLst/>
              <a:ahLst/>
              <a:cxnLst/>
              <a:rect r="r" b="b" t="t" l="l"/>
              <a:pathLst>
                <a:path h="186780" w="815714">
                  <a:moveTo>
                    <a:pt x="0" y="0"/>
                  </a:moveTo>
                  <a:lnTo>
                    <a:pt x="815714" y="0"/>
                  </a:lnTo>
                  <a:lnTo>
                    <a:pt x="815714" y="186780"/>
                  </a:lnTo>
                  <a:lnTo>
                    <a:pt x="0" y="18678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15714" cy="243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706852" y="5987783"/>
            <a:ext cx="271760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move particles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52719" y="7318534"/>
            <a:ext cx="5588284" cy="709181"/>
            <a:chOff x="0" y="0"/>
            <a:chExt cx="1471811" cy="1867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71812" cy="186780"/>
            </a:xfrm>
            <a:custGeom>
              <a:avLst/>
              <a:gdLst/>
              <a:ahLst/>
              <a:cxnLst/>
              <a:rect r="r" b="b" t="t" l="l"/>
              <a:pathLst>
                <a:path h="186780" w="1471812">
                  <a:moveTo>
                    <a:pt x="0" y="0"/>
                  </a:moveTo>
                  <a:lnTo>
                    <a:pt x="1471812" y="0"/>
                  </a:lnTo>
                  <a:lnTo>
                    <a:pt x="1471812" y="186780"/>
                  </a:lnTo>
                  <a:lnTo>
                    <a:pt x="0" y="18678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471811" cy="243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369984" y="7373518"/>
            <a:ext cx="523124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measure ordered parameter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271977" y="8656059"/>
            <a:ext cx="7334801" cy="709181"/>
            <a:chOff x="0" y="0"/>
            <a:chExt cx="1931799" cy="1867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31800" cy="186780"/>
            </a:xfrm>
            <a:custGeom>
              <a:avLst/>
              <a:gdLst/>
              <a:ahLst/>
              <a:cxnLst/>
              <a:rect r="r" b="b" t="t" l="l"/>
              <a:pathLst>
                <a:path h="186780" w="1931800">
                  <a:moveTo>
                    <a:pt x="0" y="0"/>
                  </a:moveTo>
                  <a:lnTo>
                    <a:pt x="1931800" y="0"/>
                  </a:lnTo>
                  <a:lnTo>
                    <a:pt x="1931800" y="186780"/>
                  </a:lnTo>
                  <a:lnTo>
                    <a:pt x="0" y="18678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931799" cy="243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397429" y="8705850"/>
            <a:ext cx="709886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vary noise to observe phase transition</a:t>
            </a:r>
          </a:p>
        </p:txBody>
      </p:sp>
      <p:sp>
        <p:nvSpPr>
          <p:cNvPr name="AutoShape 26" id="26"/>
          <p:cNvSpPr/>
          <p:nvPr/>
        </p:nvSpPr>
        <p:spPr>
          <a:xfrm flipH="true">
            <a:off x="9144000" y="3843077"/>
            <a:ext cx="19698" cy="7143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9124950" y="5213163"/>
            <a:ext cx="0" cy="7143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>
            <a:off x="9144000" y="6647174"/>
            <a:ext cx="0" cy="53515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9" id="29"/>
          <p:cNvSpPr/>
          <p:nvPr/>
        </p:nvSpPr>
        <p:spPr>
          <a:xfrm>
            <a:off x="9163698" y="7987297"/>
            <a:ext cx="19050" cy="5253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77070"/>
            <a:ext cx="8294517" cy="3118947"/>
            <a:chOff x="0" y="0"/>
            <a:chExt cx="2184564" cy="821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564" cy="821451"/>
            </a:xfrm>
            <a:custGeom>
              <a:avLst/>
              <a:gdLst/>
              <a:ahLst/>
              <a:cxnLst/>
              <a:rect r="r" b="b" t="t" l="l"/>
              <a:pathLst>
                <a:path h="821451" w="2184564">
                  <a:moveTo>
                    <a:pt x="15867" y="0"/>
                  </a:moveTo>
                  <a:lnTo>
                    <a:pt x="2168697" y="0"/>
                  </a:lnTo>
                  <a:cubicBezTo>
                    <a:pt x="2177460" y="0"/>
                    <a:pt x="2184564" y="7104"/>
                    <a:pt x="2184564" y="15867"/>
                  </a:cubicBezTo>
                  <a:lnTo>
                    <a:pt x="2184564" y="805584"/>
                  </a:lnTo>
                  <a:cubicBezTo>
                    <a:pt x="2184564" y="814347"/>
                    <a:pt x="2177460" y="821451"/>
                    <a:pt x="2168697" y="821451"/>
                  </a:cubicBezTo>
                  <a:lnTo>
                    <a:pt x="15867" y="821451"/>
                  </a:lnTo>
                  <a:cubicBezTo>
                    <a:pt x="7104" y="821451"/>
                    <a:pt x="0" y="814347"/>
                    <a:pt x="0" y="805584"/>
                  </a:cubicBezTo>
                  <a:lnTo>
                    <a:pt x="0" y="15867"/>
                  </a:lnTo>
                  <a:cubicBezTo>
                    <a:pt x="0" y="7104"/>
                    <a:pt x="7104" y="0"/>
                    <a:pt x="15867" y="0"/>
                  </a:cubicBezTo>
                  <a:close/>
                </a:path>
              </a:pathLst>
            </a:custGeom>
            <a:solidFill>
              <a:srgbClr val="D4FFD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84564" cy="859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29763" y="3277070"/>
            <a:ext cx="7529537" cy="3118947"/>
            <a:chOff x="0" y="0"/>
            <a:chExt cx="1983088" cy="821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3088" cy="821451"/>
            </a:xfrm>
            <a:custGeom>
              <a:avLst/>
              <a:gdLst/>
              <a:ahLst/>
              <a:cxnLst/>
              <a:rect r="r" b="b" t="t" l="l"/>
              <a:pathLst>
                <a:path h="821451" w="1983088">
                  <a:moveTo>
                    <a:pt x="17480" y="0"/>
                  </a:moveTo>
                  <a:lnTo>
                    <a:pt x="1965609" y="0"/>
                  </a:lnTo>
                  <a:cubicBezTo>
                    <a:pt x="1970244" y="0"/>
                    <a:pt x="1974690" y="1842"/>
                    <a:pt x="1977968" y="5120"/>
                  </a:cubicBezTo>
                  <a:cubicBezTo>
                    <a:pt x="1981247" y="8398"/>
                    <a:pt x="1983088" y="12844"/>
                    <a:pt x="1983088" y="17480"/>
                  </a:cubicBezTo>
                  <a:lnTo>
                    <a:pt x="1983088" y="803972"/>
                  </a:lnTo>
                  <a:cubicBezTo>
                    <a:pt x="1983088" y="808607"/>
                    <a:pt x="1981247" y="813053"/>
                    <a:pt x="1977968" y="816331"/>
                  </a:cubicBezTo>
                  <a:cubicBezTo>
                    <a:pt x="1974690" y="819610"/>
                    <a:pt x="1970244" y="821451"/>
                    <a:pt x="1965609" y="821451"/>
                  </a:cubicBezTo>
                  <a:lnTo>
                    <a:pt x="17480" y="821451"/>
                  </a:lnTo>
                  <a:cubicBezTo>
                    <a:pt x="12844" y="821451"/>
                    <a:pt x="8398" y="819610"/>
                    <a:pt x="5120" y="816331"/>
                  </a:cubicBezTo>
                  <a:cubicBezTo>
                    <a:pt x="1842" y="813053"/>
                    <a:pt x="0" y="808607"/>
                    <a:pt x="0" y="803972"/>
                  </a:cubicBezTo>
                  <a:lnTo>
                    <a:pt x="0" y="17480"/>
                  </a:lnTo>
                  <a:cubicBezTo>
                    <a:pt x="0" y="12844"/>
                    <a:pt x="1842" y="8398"/>
                    <a:pt x="5120" y="5120"/>
                  </a:cubicBezTo>
                  <a:cubicBezTo>
                    <a:pt x="8398" y="1842"/>
                    <a:pt x="12844" y="0"/>
                    <a:pt x="17480" y="0"/>
                  </a:cubicBezTo>
                  <a:close/>
                </a:path>
              </a:pathLst>
            </a:custGeom>
            <a:solidFill>
              <a:srgbClr val="D4FFD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83088" cy="859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91231" y="4133228"/>
            <a:ext cx="7627144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 particles in 2D rectangular box (Lx​×Ly)​</a:t>
            </a:r>
          </a:p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Apply periodic boundary conditions</a:t>
            </a:r>
          </a:p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Assign:Random initial positions</a:t>
            </a:r>
          </a:p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Random initial directions θi∈[−π,π]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18376" y="3467570"/>
            <a:ext cx="149590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b="true" sz="331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6949" y="3467570"/>
            <a:ext cx="227516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b="true" sz="331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Parameters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33767" y="4036444"/>
            <a:ext cx="6521529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Constant speed v=0.03​</a:t>
            </a:r>
          </a:p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Interaction radius rc=1.0</a:t>
            </a:r>
          </a:p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Noise strength η and η∈[−η/2,η/2]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1769" y="1359703"/>
            <a:ext cx="258175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b="true" sz="331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Initialization: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68838" y="4869255"/>
            <a:ext cx="3867521" cy="1512495"/>
          </a:xfrm>
          <a:custGeom>
            <a:avLst/>
            <a:gdLst/>
            <a:ahLst/>
            <a:cxnLst/>
            <a:rect r="r" b="b" t="t" l="l"/>
            <a:pathLst>
              <a:path h="1512495" w="3867521">
                <a:moveTo>
                  <a:pt x="0" y="0"/>
                </a:moveTo>
                <a:lnTo>
                  <a:pt x="3867521" y="0"/>
                </a:lnTo>
                <a:lnTo>
                  <a:pt x="3867521" y="1512495"/>
                </a:lnTo>
                <a:lnTo>
                  <a:pt x="0" y="1512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149" y="5986493"/>
            <a:ext cx="5451021" cy="757387"/>
          </a:xfrm>
          <a:custGeom>
            <a:avLst/>
            <a:gdLst/>
            <a:ahLst/>
            <a:cxnLst/>
            <a:rect r="r" b="b" t="t" l="l"/>
            <a:pathLst>
              <a:path h="757387" w="5451021">
                <a:moveTo>
                  <a:pt x="0" y="0"/>
                </a:moveTo>
                <a:lnTo>
                  <a:pt x="5451021" y="0"/>
                </a:lnTo>
                <a:lnTo>
                  <a:pt x="5451021" y="757386"/>
                </a:lnTo>
                <a:lnTo>
                  <a:pt x="0" y="757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3147" r="0" b="-2752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41683" y="4795807"/>
            <a:ext cx="3335886" cy="1190685"/>
          </a:xfrm>
          <a:custGeom>
            <a:avLst/>
            <a:gdLst/>
            <a:ahLst/>
            <a:cxnLst/>
            <a:rect r="r" b="b" t="t" l="l"/>
            <a:pathLst>
              <a:path h="1190685" w="3335886">
                <a:moveTo>
                  <a:pt x="0" y="0"/>
                </a:moveTo>
                <a:lnTo>
                  <a:pt x="3335887" y="0"/>
                </a:lnTo>
                <a:lnTo>
                  <a:pt x="3335887" y="1190686"/>
                </a:lnTo>
                <a:lnTo>
                  <a:pt x="0" y="1190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552770"/>
            <a:ext cx="627973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1)</a:t>
            </a: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For each particle:</a:t>
            </a:r>
          </a:p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Find neighbors within radius rc</a:t>
            </a:r>
          </a:p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Compute average direction using: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87581" y="4243357"/>
            <a:ext cx="224409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2)</a:t>
            </a: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Add noise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50022" y="3848100"/>
            <a:ext cx="350213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3)</a:t>
            </a: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Update position: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93198" y="4343400"/>
            <a:ext cx="5016680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Apply periodic boundary conditions Repeat for Many Time Steps </a:t>
            </a:r>
          </a:p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to reach steady state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305937"/>
            <a:ext cx="326064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b="true" sz="331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b="true" sz="331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</a:t>
            </a:r>
            <a:r>
              <a:rPr lang="en-US" b="true" sz="331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ime Evolution:</a:t>
            </a:r>
          </a:p>
        </p:txBody>
      </p:sp>
      <p:sp>
        <p:nvSpPr>
          <p:cNvPr name="AutoShape 10" id="10"/>
          <p:cNvSpPr/>
          <p:nvPr/>
        </p:nvSpPr>
        <p:spPr>
          <a:xfrm>
            <a:off x="7737575" y="3609920"/>
            <a:ext cx="0" cy="313396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11881678" y="3525053"/>
            <a:ext cx="0" cy="321882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912248" y="5897367"/>
            <a:ext cx="2688071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Normalize by number of particles</a:t>
            </a:r>
          </a:p>
        </p:txBody>
      </p:sp>
      <p:sp>
        <p:nvSpPr>
          <p:cNvPr name="AutoShape 3" id="3"/>
          <p:cNvSpPr/>
          <p:nvPr/>
        </p:nvSpPr>
        <p:spPr>
          <a:xfrm>
            <a:off x="4608136" y="6659367"/>
            <a:ext cx="59330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" id="4"/>
          <p:cNvSpPr/>
          <p:nvPr/>
        </p:nvSpPr>
        <p:spPr>
          <a:xfrm>
            <a:off x="8352203" y="6678417"/>
            <a:ext cx="59330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" id="5"/>
          <p:cNvSpPr/>
          <p:nvPr/>
        </p:nvSpPr>
        <p:spPr>
          <a:xfrm>
            <a:off x="11223688" y="6697467"/>
            <a:ext cx="59330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" id="6"/>
          <p:cNvSpPr/>
          <p:nvPr/>
        </p:nvSpPr>
        <p:spPr>
          <a:xfrm>
            <a:off x="14528125" y="6716517"/>
            <a:ext cx="59330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714053" y="3628615"/>
            <a:ext cx="2859894" cy="1045710"/>
          </a:xfrm>
          <a:custGeom>
            <a:avLst/>
            <a:gdLst/>
            <a:ahLst/>
            <a:cxnLst/>
            <a:rect r="r" b="b" t="t" l="l"/>
            <a:pathLst>
              <a:path h="1045710" w="2859894">
                <a:moveTo>
                  <a:pt x="0" y="0"/>
                </a:moveTo>
                <a:lnTo>
                  <a:pt x="2859894" y="0"/>
                </a:lnTo>
                <a:lnTo>
                  <a:pt x="2859894" y="1045710"/>
                </a:lnTo>
                <a:lnTo>
                  <a:pt x="0" y="1045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225393"/>
            <a:ext cx="162306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048" indent="-357524" lvl="1">
              <a:lnSpc>
                <a:spcPts val="3974"/>
              </a:lnSpc>
              <a:buFont typeface="Arial"/>
              <a:buChar char="•"/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The order parameter is computed by summing velocity components (cos⁡θ,sin⁡θ) of all particles, taking the magnitude, and normalizing by 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08633" y="5592567"/>
            <a:ext cx="2503804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Convert direction to velocity components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97145" y="5592567"/>
            <a:ext cx="3055058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Sum all velocities gives total velocity vector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22120" y="6087867"/>
            <a:ext cx="210631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Take magnitude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15037" y="6125967"/>
            <a:ext cx="194426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Time averaging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252172"/>
            <a:ext cx="512230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b="true" sz="331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Measure Order Parameter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96048" y="3281479"/>
            <a:ext cx="709767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Box is rectangular and Lx​=25 &amp; Ly=16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96048" y="540642"/>
            <a:ext cx="15773400" cy="1988345"/>
            <a:chOff x="0" y="0"/>
            <a:chExt cx="21031200" cy="26511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Phase Transition Driven By Density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84113" y="5086350"/>
            <a:ext cx="141090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Sweep density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15186" y="5086350"/>
            <a:ext cx="18359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Update dynamics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83995" y="5334000"/>
            <a:ext cx="198965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Equilibrate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77227" y="5261358"/>
            <a:ext cx="219694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Measure 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05587" y="5261358"/>
            <a:ext cx="163722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Average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98907" y="5261358"/>
            <a:ext cx="72461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Plot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818080" y="5318508"/>
            <a:ext cx="545668" cy="350017"/>
            <a:chOff x="0" y="0"/>
            <a:chExt cx="812800" cy="5213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521367"/>
            </a:xfrm>
            <a:custGeom>
              <a:avLst/>
              <a:gdLst/>
              <a:ahLst/>
              <a:cxnLst/>
              <a:rect r="r" b="b" t="t" l="l"/>
              <a:pathLst>
                <a:path h="521367" w="812800">
                  <a:moveTo>
                    <a:pt x="812800" y="260684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18167"/>
                  </a:lnTo>
                  <a:lnTo>
                    <a:pt x="406400" y="318167"/>
                  </a:lnTo>
                  <a:lnTo>
                    <a:pt x="406400" y="521367"/>
                  </a:lnTo>
                  <a:lnTo>
                    <a:pt x="812800" y="26068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46050"/>
              <a:ext cx="711200" cy="172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74193" y="5391150"/>
            <a:ext cx="545668" cy="350017"/>
            <a:chOff x="0" y="0"/>
            <a:chExt cx="812800" cy="5213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521367"/>
            </a:xfrm>
            <a:custGeom>
              <a:avLst/>
              <a:gdLst/>
              <a:ahLst/>
              <a:cxnLst/>
              <a:rect r="r" b="b" t="t" l="l"/>
              <a:pathLst>
                <a:path h="521367" w="812800">
                  <a:moveTo>
                    <a:pt x="812800" y="260684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18167"/>
                  </a:lnTo>
                  <a:lnTo>
                    <a:pt x="406400" y="318167"/>
                  </a:lnTo>
                  <a:lnTo>
                    <a:pt x="406400" y="521367"/>
                  </a:lnTo>
                  <a:lnTo>
                    <a:pt x="812800" y="26068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46050"/>
              <a:ext cx="711200" cy="172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31534" y="5411915"/>
            <a:ext cx="545668" cy="350017"/>
            <a:chOff x="0" y="0"/>
            <a:chExt cx="812800" cy="5213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521367"/>
            </a:xfrm>
            <a:custGeom>
              <a:avLst/>
              <a:gdLst/>
              <a:ahLst/>
              <a:cxnLst/>
              <a:rect r="r" b="b" t="t" l="l"/>
              <a:pathLst>
                <a:path h="521367" w="812800">
                  <a:moveTo>
                    <a:pt x="812800" y="260684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18167"/>
                  </a:lnTo>
                  <a:lnTo>
                    <a:pt x="406400" y="318167"/>
                  </a:lnTo>
                  <a:lnTo>
                    <a:pt x="406400" y="521367"/>
                  </a:lnTo>
                  <a:lnTo>
                    <a:pt x="812800" y="26068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46050"/>
              <a:ext cx="711200" cy="172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336811" y="5463792"/>
            <a:ext cx="545668" cy="350017"/>
            <a:chOff x="0" y="0"/>
            <a:chExt cx="812800" cy="5213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521367"/>
            </a:xfrm>
            <a:custGeom>
              <a:avLst/>
              <a:gdLst/>
              <a:ahLst/>
              <a:cxnLst/>
              <a:rect r="r" b="b" t="t" l="l"/>
              <a:pathLst>
                <a:path h="521367" w="812800">
                  <a:moveTo>
                    <a:pt x="812800" y="260684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18167"/>
                  </a:lnTo>
                  <a:lnTo>
                    <a:pt x="406400" y="318167"/>
                  </a:lnTo>
                  <a:lnTo>
                    <a:pt x="406400" y="521367"/>
                  </a:lnTo>
                  <a:lnTo>
                    <a:pt x="812800" y="26068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46050"/>
              <a:ext cx="711200" cy="172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785247" y="5463792"/>
            <a:ext cx="545668" cy="350017"/>
            <a:chOff x="0" y="0"/>
            <a:chExt cx="812800" cy="5213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521367"/>
            </a:xfrm>
            <a:custGeom>
              <a:avLst/>
              <a:gdLst/>
              <a:ahLst/>
              <a:cxnLst/>
              <a:rect r="r" b="b" t="t" l="l"/>
              <a:pathLst>
                <a:path h="521367" w="812800">
                  <a:moveTo>
                    <a:pt x="812800" y="260684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18167"/>
                  </a:lnTo>
                  <a:lnTo>
                    <a:pt x="406400" y="318167"/>
                  </a:lnTo>
                  <a:lnTo>
                    <a:pt x="406400" y="521367"/>
                  </a:lnTo>
                  <a:lnTo>
                    <a:pt x="812800" y="26068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46050"/>
              <a:ext cx="711200" cy="172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56364" y="2524310"/>
            <a:ext cx="7690124" cy="5940621"/>
          </a:xfrm>
          <a:custGeom>
            <a:avLst/>
            <a:gdLst/>
            <a:ahLst/>
            <a:cxnLst/>
            <a:rect r="r" b="b" t="t" l="l"/>
            <a:pathLst>
              <a:path h="5940621" w="7690124">
                <a:moveTo>
                  <a:pt x="0" y="0"/>
                </a:moveTo>
                <a:lnTo>
                  <a:pt x="7690123" y="0"/>
                </a:lnTo>
                <a:lnTo>
                  <a:pt x="7690123" y="5940621"/>
                </a:lnTo>
                <a:lnTo>
                  <a:pt x="0" y="5940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59594" y="3313617"/>
            <a:ext cx="8103456" cy="4362008"/>
            <a:chOff x="0" y="0"/>
            <a:chExt cx="2462650" cy="13256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62650" cy="1325619"/>
            </a:xfrm>
            <a:custGeom>
              <a:avLst/>
              <a:gdLst/>
              <a:ahLst/>
              <a:cxnLst/>
              <a:rect r="r" b="b" t="t" l="l"/>
              <a:pathLst>
                <a:path h="1325619" w="2462650">
                  <a:moveTo>
                    <a:pt x="48725" y="0"/>
                  </a:moveTo>
                  <a:lnTo>
                    <a:pt x="2413925" y="0"/>
                  </a:lnTo>
                  <a:cubicBezTo>
                    <a:pt x="2426848" y="0"/>
                    <a:pt x="2439241" y="5133"/>
                    <a:pt x="2448379" y="14271"/>
                  </a:cubicBezTo>
                  <a:cubicBezTo>
                    <a:pt x="2457516" y="23409"/>
                    <a:pt x="2462650" y="35802"/>
                    <a:pt x="2462650" y="48725"/>
                  </a:cubicBezTo>
                  <a:lnTo>
                    <a:pt x="2462650" y="1276895"/>
                  </a:lnTo>
                  <a:cubicBezTo>
                    <a:pt x="2462650" y="1289817"/>
                    <a:pt x="2457516" y="1302211"/>
                    <a:pt x="2448379" y="1311348"/>
                  </a:cubicBezTo>
                  <a:cubicBezTo>
                    <a:pt x="2439241" y="1320486"/>
                    <a:pt x="2426848" y="1325619"/>
                    <a:pt x="2413925" y="1325619"/>
                  </a:cubicBezTo>
                  <a:lnTo>
                    <a:pt x="48725" y="1325619"/>
                  </a:lnTo>
                  <a:cubicBezTo>
                    <a:pt x="35802" y="1325619"/>
                    <a:pt x="23409" y="1320486"/>
                    <a:pt x="14271" y="1311348"/>
                  </a:cubicBezTo>
                  <a:cubicBezTo>
                    <a:pt x="5133" y="1302211"/>
                    <a:pt x="0" y="1289817"/>
                    <a:pt x="0" y="1276895"/>
                  </a:cubicBezTo>
                  <a:lnTo>
                    <a:pt x="0" y="48725"/>
                  </a:lnTo>
                  <a:cubicBezTo>
                    <a:pt x="0" y="35802"/>
                    <a:pt x="5133" y="23409"/>
                    <a:pt x="14271" y="14271"/>
                  </a:cubicBezTo>
                  <a:cubicBezTo>
                    <a:pt x="23409" y="5133"/>
                    <a:pt x="35802" y="0"/>
                    <a:pt x="48725" y="0"/>
                  </a:cubicBezTo>
                  <a:close/>
                </a:path>
              </a:pathLst>
            </a:custGeom>
            <a:solidFill>
              <a:srgbClr val="D4FFD4"/>
            </a:solidFill>
            <a:ln w="66675" cap="rnd">
              <a:solidFill>
                <a:srgbClr val="3CC02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462650" cy="1382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007885" y="3902073"/>
            <a:ext cx="4168775" cy="49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4"/>
              </a:lnSpc>
              <a:spcBef>
                <a:spcPct val="0"/>
              </a:spcBef>
            </a:pPr>
            <a:r>
              <a:rPr lang="en-US" sz="287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Sweep η from high → 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569447"/>
            <a:ext cx="7908609" cy="1783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4"/>
              </a:lnSpc>
              <a:spcBef>
                <a:spcPct val="0"/>
              </a:spcBef>
            </a:pPr>
            <a:r>
              <a:rPr lang="en-US" sz="287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Low noise (η→0):va≈1,</a:t>
            </a:r>
          </a:p>
          <a:p>
            <a:pPr algn="ctr">
              <a:lnSpc>
                <a:spcPts val="3444"/>
              </a:lnSpc>
              <a:spcBef>
                <a:spcPct val="0"/>
              </a:spcBef>
            </a:pPr>
            <a:r>
              <a:rPr lang="en-US" sz="287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All particles move in the same direction (flocking)</a:t>
            </a:r>
          </a:p>
          <a:p>
            <a:pPr algn="ctr">
              <a:lnSpc>
                <a:spcPts val="3444"/>
              </a:lnSpc>
              <a:spcBef>
                <a:spcPct val="0"/>
              </a:spcBef>
            </a:pPr>
            <a:r>
              <a:rPr lang="en-US" sz="287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High noise (η→5):va≈0,</a:t>
            </a:r>
          </a:p>
          <a:p>
            <a:pPr algn="ctr">
              <a:lnSpc>
                <a:spcPts val="3444"/>
              </a:lnSpc>
              <a:spcBef>
                <a:spcPct val="0"/>
              </a:spcBef>
            </a:pPr>
            <a:r>
              <a:rPr lang="en-US" sz="287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Motion becomes random (disordered)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83820" y="6521495"/>
            <a:ext cx="4074773" cy="92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4"/>
              </a:lnSpc>
              <a:spcBef>
                <a:spcPct val="0"/>
              </a:spcBef>
            </a:pPr>
            <a:r>
              <a:rPr lang="en-US" sz="287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Transition occurs around:</a:t>
            </a:r>
          </a:p>
          <a:p>
            <a:pPr algn="ctr">
              <a:lnSpc>
                <a:spcPts val="3444"/>
              </a:lnSpc>
              <a:spcBef>
                <a:spcPct val="0"/>
              </a:spcBef>
            </a:pPr>
            <a:r>
              <a:rPr lang="en-US" sz="287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ηc≈2.5−3.5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56399" y="8540584"/>
            <a:ext cx="6090052" cy="84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9"/>
              </a:lnSpc>
              <a:spcBef>
                <a:spcPct val="0"/>
              </a:spcBef>
            </a:pPr>
            <a:r>
              <a:rPr lang="en-US" sz="1766" i="true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noise-driven phase transition where increasing noise destroys collective motion, with sharper transitions for larger system sizes, consistent with Vicsek model predictions.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96048" y="540642"/>
            <a:ext cx="15773400" cy="1988345"/>
            <a:chOff x="0" y="0"/>
            <a:chExt cx="21031200" cy="26511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73" r="0" b="-104573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Results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96048" y="2219510"/>
            <a:ext cx="483167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b="true" sz="331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Noise-Driven Transition: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06327" y="2421229"/>
            <a:ext cx="7052973" cy="5444541"/>
          </a:xfrm>
          <a:custGeom>
            <a:avLst/>
            <a:gdLst/>
            <a:ahLst/>
            <a:cxnLst/>
            <a:rect r="r" b="b" t="t" l="l"/>
            <a:pathLst>
              <a:path h="5444541" w="7052973">
                <a:moveTo>
                  <a:pt x="0" y="0"/>
                </a:moveTo>
                <a:lnTo>
                  <a:pt x="7052973" y="0"/>
                </a:lnTo>
                <a:lnTo>
                  <a:pt x="7052973" y="5444542"/>
                </a:lnTo>
                <a:lnTo>
                  <a:pt x="0" y="5444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86853" y="3517336"/>
            <a:ext cx="8318517" cy="3519687"/>
            <a:chOff x="0" y="0"/>
            <a:chExt cx="2528007" cy="10696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28007" cy="1069637"/>
            </a:xfrm>
            <a:custGeom>
              <a:avLst/>
              <a:gdLst/>
              <a:ahLst/>
              <a:cxnLst/>
              <a:rect r="r" b="b" t="t" l="l"/>
              <a:pathLst>
                <a:path h="1069637" w="2528007">
                  <a:moveTo>
                    <a:pt x="47465" y="0"/>
                  </a:moveTo>
                  <a:lnTo>
                    <a:pt x="2480542" y="0"/>
                  </a:lnTo>
                  <a:cubicBezTo>
                    <a:pt x="2506756" y="0"/>
                    <a:pt x="2528007" y="21251"/>
                    <a:pt x="2528007" y="47465"/>
                  </a:cubicBezTo>
                  <a:lnTo>
                    <a:pt x="2528007" y="1022172"/>
                  </a:lnTo>
                  <a:cubicBezTo>
                    <a:pt x="2528007" y="1048386"/>
                    <a:pt x="2506756" y="1069637"/>
                    <a:pt x="2480542" y="1069637"/>
                  </a:cubicBezTo>
                  <a:lnTo>
                    <a:pt x="47465" y="1069637"/>
                  </a:lnTo>
                  <a:cubicBezTo>
                    <a:pt x="21251" y="1069637"/>
                    <a:pt x="0" y="1048386"/>
                    <a:pt x="0" y="1022172"/>
                  </a:cubicBezTo>
                  <a:lnTo>
                    <a:pt x="0" y="47465"/>
                  </a:lnTo>
                  <a:cubicBezTo>
                    <a:pt x="0" y="21251"/>
                    <a:pt x="21251" y="0"/>
                    <a:pt x="47465" y="0"/>
                  </a:cubicBezTo>
                  <a:close/>
                </a:path>
              </a:pathLst>
            </a:custGeom>
            <a:solidFill>
              <a:srgbClr val="D4FFD4"/>
            </a:solidFill>
            <a:ln w="66675" cap="rnd">
              <a:solidFill>
                <a:srgbClr val="3CC02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528007" cy="1126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18644" y="5447970"/>
            <a:ext cx="668292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Identification of Transition Region around ρ≈1.5−3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8222" y="3734130"/>
            <a:ext cx="779577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At large ρ, va approaches ~0.8</a:t>
            </a:r>
          </a:p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system reaches strongly ordered state</a:t>
            </a:r>
          </a:p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Confirms alignment dominates over noise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71702" y="7964857"/>
            <a:ext cx="5322223" cy="92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2"/>
              </a:lnSpc>
              <a:spcBef>
                <a:spcPct val="0"/>
              </a:spcBef>
            </a:pPr>
            <a:r>
              <a:rPr lang="en-US" sz="1977" i="true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results successfully demonstrate a density-driven phase transition with a clear onset, saturation behavior, and smooth convergence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9060" y="2219510"/>
            <a:ext cx="520565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b="true" sz="331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Density-Driven Transition: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71837"/>
            <a:ext cx="16230600" cy="699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048" indent="-357524" lvl="1">
              <a:lnSpc>
                <a:spcPts val="3974"/>
              </a:lnSpc>
              <a:buFont typeface="Arial"/>
              <a:buChar char="•"/>
            </a:pPr>
            <a:r>
              <a:rPr lang="en-US" b="true" sz="331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Noise-Driven Transition:</a:t>
            </a:r>
          </a:p>
          <a:p>
            <a:pPr algn="l" marL="1430096" indent="-476699" lvl="2">
              <a:lnSpc>
                <a:spcPts val="3974"/>
              </a:lnSpc>
              <a:buFont typeface="Arial"/>
              <a:buChar char="⚬"/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Increasing noise η drives the system from ordered (flocking) to disordered motion.</a:t>
            </a:r>
          </a:p>
          <a:p>
            <a:pPr algn="l" marL="1430096" indent="-476699" lvl="2">
              <a:lnSpc>
                <a:spcPts val="3974"/>
              </a:lnSpc>
              <a:buFont typeface="Arial"/>
              <a:buChar char="⚬"/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 clear critical noise ηc​ is observed.</a:t>
            </a:r>
          </a:p>
          <a:p>
            <a:pPr algn="l" marL="1430096" indent="-476699" lvl="2">
              <a:lnSpc>
                <a:spcPts val="3974"/>
              </a:lnSpc>
              <a:buFont typeface="Arial"/>
              <a:buChar char="⚬"/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Larger system sizes show sharper transitions, indicating approach to the thermodynamic limit.</a:t>
            </a:r>
          </a:p>
          <a:p>
            <a:pPr algn="l">
              <a:lnSpc>
                <a:spcPts val="3974"/>
              </a:lnSpc>
            </a:pPr>
          </a:p>
          <a:p>
            <a:pPr algn="l" marL="715048" indent="-357524" lvl="1">
              <a:lnSpc>
                <a:spcPts val="3974"/>
              </a:lnSpc>
              <a:buFont typeface="Arial"/>
              <a:buChar char="•"/>
            </a:pPr>
            <a:r>
              <a:rPr lang="en-US" b="true" sz="331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Density-Driven Transition:</a:t>
            </a:r>
          </a:p>
          <a:p>
            <a:pPr algn="l" marL="1430096" indent="-476699" lvl="2">
              <a:lnSpc>
                <a:spcPts val="3974"/>
              </a:lnSpc>
              <a:buFont typeface="Arial"/>
              <a:buChar char="⚬"/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Increasing density ρ enhances interactions and leads to emergence of collective motion.</a:t>
            </a:r>
          </a:p>
          <a:p>
            <a:pPr algn="l" marL="1430096" indent="-476699" lvl="2">
              <a:lnSpc>
                <a:spcPts val="3974"/>
              </a:lnSpc>
              <a:buFont typeface="Arial"/>
              <a:buChar char="⚬"/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 critical density ρc​ is observed for onset of flocking</a:t>
            </a:r>
          </a:p>
          <a:p>
            <a:pPr algn="l" marL="1430096" indent="-476699" lvl="2">
              <a:lnSpc>
                <a:spcPts val="3974"/>
              </a:lnSpc>
              <a:buFont typeface="Arial"/>
              <a:buChar char="⚬"/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At high density, the system reaches a saturated ordered state</a:t>
            </a:r>
          </a:p>
          <a:p>
            <a:pPr algn="l">
              <a:lnSpc>
                <a:spcPts val="3974"/>
              </a:lnSpc>
            </a:pPr>
          </a:p>
          <a:p>
            <a:pPr algn="l" marL="715048" indent="-357524" lvl="1">
              <a:lnSpc>
                <a:spcPts val="3974"/>
              </a:lnSpc>
              <a:buFont typeface="Arial"/>
              <a:buChar char="•"/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Confirms existence of non-equilibrium phase transitions in active matter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15098" y="540642"/>
            <a:ext cx="15773400" cy="1988345"/>
            <a:chOff x="0" y="0"/>
            <a:chExt cx="21031200" cy="26511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Conclusion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048" y="540642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Future Works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579367"/>
            <a:ext cx="16230600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048" indent="-357524" lvl="1">
              <a:lnSpc>
                <a:spcPts val="3974"/>
              </a:lnSpc>
              <a:buFont typeface="Arial"/>
              <a:buChar char="•"/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can extend to Larger System Sizes and 3-D models.</a:t>
            </a:r>
          </a:p>
          <a:p>
            <a:pPr algn="l">
              <a:lnSpc>
                <a:spcPts val="3974"/>
              </a:lnSpc>
            </a:pPr>
          </a:p>
          <a:p>
            <a:pPr algn="l" marL="715048" indent="-357524" lvl="1">
              <a:lnSpc>
                <a:spcPts val="3974"/>
              </a:lnSpc>
              <a:buFont typeface="Arial"/>
              <a:buChar char="•"/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Different Interaction Models Include:Variable speed,Anisotropic interactions,External fields.</a:t>
            </a:r>
          </a:p>
          <a:p>
            <a:pPr algn="l">
              <a:lnSpc>
                <a:spcPts val="3974"/>
              </a:lnSpc>
            </a:pPr>
          </a:p>
          <a:p>
            <a:pPr algn="l" marL="715048" indent="-357524" lvl="1">
              <a:lnSpc>
                <a:spcPts val="3974"/>
              </a:lnSpc>
              <a:buFont typeface="Arial"/>
              <a:buChar char="•"/>
            </a:pPr>
            <a:r>
              <a:rPr lang="en-US" sz="33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Growing Interfaces.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048" y="540642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Acknowledgements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67448" y="2633148"/>
            <a:ext cx="16230600" cy="455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 would like to sincerely thank my supervisor </a:t>
            </a:r>
            <a:r>
              <a:rPr lang="en-US" b="true" sz="33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Dr.Sunita</a:t>
            </a: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for their guidance and support throughout this project.</a:t>
            </a:r>
          </a:p>
          <a:p>
            <a:pPr algn="l">
              <a:lnSpc>
                <a:spcPts val="3564"/>
              </a:lnSpc>
            </a:pPr>
          </a:p>
          <a:p>
            <a:pPr algn="l" marL="712470" indent="-356235" lvl="1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 am especially grateful to my Teaching Assistant </a:t>
            </a:r>
            <a:r>
              <a:rPr lang="en-US" b="true" sz="33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Rashmi</a:t>
            </a: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for cla</a:t>
            </a: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ri</a:t>
            </a: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fying doub</a:t>
            </a: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</a:t>
            </a: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 </a:t>
            </a: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</a:t>
            </a: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nd providing valuable guidance during the work.</a:t>
            </a:r>
          </a:p>
          <a:p>
            <a:pPr algn="l">
              <a:lnSpc>
                <a:spcPts val="3564"/>
              </a:lnSpc>
            </a:pPr>
          </a:p>
          <a:p>
            <a:pPr algn="l" marL="712470" indent="-356235" lvl="1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 acknowledge my institute and department for providing the necessary resources.</a:t>
            </a:r>
          </a:p>
          <a:p>
            <a:pPr algn="l">
              <a:lnSpc>
                <a:spcPts val="3564"/>
              </a:lnSpc>
            </a:pPr>
          </a:p>
          <a:p>
            <a:pPr algn="l" marL="712470" indent="-356235" lvl="1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 a</a:t>
            </a: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</a:t>
            </a: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k</a:t>
            </a: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nowledge</a:t>
            </a: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the or</a:t>
            </a: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iginal</a:t>
            </a: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Vicsek model paper for foundational insights into active matter.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048" y="540642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031200" cy="2698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sz="5100" b="true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References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96048" y="2500412"/>
            <a:ext cx="10929854" cy="142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564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Frenkel &amp; Smit – </a:t>
            </a:r>
            <a:r>
              <a:rPr lang="en-US" sz="3300" i="true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Understanding Molecular Simulation.</a:t>
            </a:r>
          </a:p>
          <a:p>
            <a:pPr algn="l" marL="712470" indent="-356235" lvl="1">
              <a:lnSpc>
                <a:spcPts val="3564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Vicsek </a:t>
            </a:r>
            <a:r>
              <a:rPr lang="en-US" sz="3300" i="true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et al. (1995) – PRL.</a:t>
            </a:r>
          </a:p>
          <a:p>
            <a:pPr algn="l" marL="712470" indent="-356235" lvl="1">
              <a:lnSpc>
                <a:spcPts val="3564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NumPy, Matplotlib Documentation.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02172" y="4709351"/>
            <a:ext cx="4483656" cy="95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DAHG7jcn3-8</dc:identifier>
  <dcterms:modified xsi:type="dcterms:W3CDTF">2011-08-01T06:04:30Z</dcterms:modified>
  <cp:revision>1</cp:revision>
  <dc:title>Introduction to Molecular Dynamics. Introduction to Active matter. Vicsek Model. Molecular Dynamics in Vicsek Model. Implementation. Conclusions and Future Works.</dc:title>
</cp:coreProperties>
</file>